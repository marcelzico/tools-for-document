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3"/>
  </p:notesMasterIdLst>
  <p:sldIdLst>
    <p:sldId id="256" r:id="rId2"/>
    <p:sldId id="289" r:id="rId3"/>
    <p:sldId id="258" r:id="rId4"/>
    <p:sldId id="259" r:id="rId5"/>
    <p:sldId id="260" r:id="rId6"/>
    <p:sldId id="261" r:id="rId7"/>
    <p:sldId id="292" r:id="rId8"/>
    <p:sldId id="263" r:id="rId9"/>
    <p:sldId id="264" r:id="rId10"/>
    <p:sldId id="265" r:id="rId11"/>
    <p:sldId id="266" r:id="rId12"/>
    <p:sldId id="267" r:id="rId13"/>
    <p:sldId id="270" r:id="rId14"/>
    <p:sldId id="271" r:id="rId15"/>
    <p:sldId id="272" r:id="rId16"/>
    <p:sldId id="273" r:id="rId17"/>
    <p:sldId id="274" r:id="rId18"/>
    <p:sldId id="276" r:id="rId19"/>
    <p:sldId id="275" r:id="rId20"/>
    <p:sldId id="277" r:id="rId21"/>
    <p:sldId id="278" r:id="rId22"/>
    <p:sldId id="279" r:id="rId23"/>
    <p:sldId id="283" r:id="rId24"/>
    <p:sldId id="282" r:id="rId25"/>
    <p:sldId id="293" r:id="rId26"/>
    <p:sldId id="295" r:id="rId27"/>
    <p:sldId id="296" r:id="rId28"/>
    <p:sldId id="280" r:id="rId29"/>
    <p:sldId id="290" r:id="rId30"/>
    <p:sldId id="288" r:id="rId31"/>
    <p:sldId id="297" r:id="rId32"/>
  </p:sldIdLst>
  <p:sldSz cx="9144000" cy="6858000" type="screen4x3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3792" autoAdjust="0"/>
  </p:normalViewPr>
  <p:slideViewPr>
    <p:cSldViewPr snapToGrid="0">
      <p:cViewPr>
        <p:scale>
          <a:sx n="62" d="100"/>
          <a:sy n="62" d="100"/>
        </p:scale>
        <p:origin x="1400" y="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1" d="100"/>
          <a:sy n="51" d="100"/>
        </p:scale>
        <p:origin x="2692" y="2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EECFBD-21A2-4C6D-894C-76DDA11897CB}" type="datetimeFigureOut">
              <a:rPr lang="LID4096" smtClean="0"/>
              <a:t>05/24/2026</a:t>
            </a:fld>
            <a:endParaRPr lang="LID4096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LID4096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7E7B22-77B3-4A80-9B2F-B138E9B52948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84987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2 grandes parties : la présentation et la démonstration du plateforme directe</a:t>
            </a:r>
            <a:endParaRPr lang="LID4096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7E7B22-77B3-4A80-9B2F-B138E9B52948}" type="slidenum">
              <a:rPr lang="LID4096" smtClean="0"/>
              <a:t>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270121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Nous vivons dans un mode où règne </a:t>
            </a:r>
            <a:endParaRPr lang="LID4096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7E7B22-77B3-4A80-9B2F-B138E9B52948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993568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Face à cette éventualité se pose des problèmes :</a:t>
            </a:r>
          </a:p>
          <a:p>
            <a:r>
              <a:rPr lang="fr-FR" dirty="0"/>
              <a:t>Du côté de la plateforme actuelle :</a:t>
            </a:r>
            <a:endParaRPr lang="LID4096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7E7B22-77B3-4A80-9B2F-B138E9B52948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164279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Étudiants stressé; des piles des polycopie, </a:t>
            </a:r>
            <a:endParaRPr lang="LID4096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7E7B22-77B3-4A80-9B2F-B138E9B52948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837449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En dehors des examens organisé par la faculté ; </a:t>
            </a:r>
            <a:endParaRPr lang="LID4096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7E7B22-77B3-4A80-9B2F-B138E9B52948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340747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2 grandes parties : la présentation et la démonstration du plateforme directe</a:t>
            </a:r>
            <a:endParaRPr lang="LID4096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7E7B22-77B3-4A80-9B2F-B138E9B52948}" type="slidenum">
              <a:rPr lang="LID4096" smtClean="0"/>
              <a:t>31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75631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7F24F7-4318-4D36-B9D9-83D6FFCDB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LID4096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072E276-6D64-417E-B3C1-E3A1E2E3A6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LID4096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06DE2E-F182-4FCD-97FD-D7CD5AAD8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FB21C-8743-481F-917C-60CB258DF554}" type="datetime1">
              <a:rPr lang="LID4096" smtClean="0"/>
              <a:t>05/24/2026</a:t>
            </a:fld>
            <a:endParaRPr lang="LID4096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AE2E511-28AC-4384-AAAA-01FD449DB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DFB339A-FE86-45AB-B430-9F3BF50AC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63542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D02215-B670-4C36-B7D8-940D47C3D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LID4096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F35F7D-068F-4B4C-A2E7-00282B95A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LID4096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029F1C2-4EBC-44C0-ADAE-B8F69B985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1E53B-17BF-46BA-B2DC-1C93CD43085F}" type="datetime1">
              <a:rPr lang="LID4096" smtClean="0"/>
              <a:t>05/24/2026</a:t>
            </a:fld>
            <a:endParaRPr lang="LID4096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7056E22-832C-4E64-88B4-0D3BECD09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763697E-808D-4932-9384-833110FAA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87038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95B58F-AB19-4DBD-85C8-8EF2F435C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LID4096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6D18F2F-8632-479B-B9BF-985D52515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BC427FC-2876-4223-972C-C0E7EB354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E00D6-D45D-4BCA-AE58-F767BDF38F56}" type="datetime1">
              <a:rPr lang="LID4096" smtClean="0"/>
              <a:t>05/24/2026</a:t>
            </a:fld>
            <a:endParaRPr lang="LID4096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12FB8B0-6A39-46C1-8A66-FAEFB8942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82E1EAA-E5B7-4246-90B1-9C19D109D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7000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5352E3-4788-44FC-B262-6AEECD714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LID4096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8B4E617-B5B3-49D9-B1B7-777DAF5A5B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LID4096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74293CA-42C6-4301-AE89-ED5A2CD67A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LID4096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B718B88-E044-4C57-B506-6D4490BF2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BF915-09D7-4B52-9E30-4E2B2446ED0B}" type="datetime1">
              <a:rPr lang="LID4096" smtClean="0"/>
              <a:t>05/24/2026</a:t>
            </a:fld>
            <a:endParaRPr lang="LID4096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B08763C-BFED-475C-8B2C-7CD7C8409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F4030EC-5F74-42F7-A75C-9899CE905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91370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608616-D2CB-4834-BCCC-C08F5921E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LID4096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7F9CA72-3C38-4883-B082-AA4D0C44AC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A6DD825-DA37-439F-9CDC-AD05B66B48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LID4096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FE2F5B2-174A-4C60-A620-8BE3C5A7D9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9322852-9193-4DAC-B835-3AAFFAC53A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LID4096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E6884F5-C70B-40CC-B47A-7B1D67406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A23B1-ECE0-4A18-9A4E-215B537A1C08}" type="datetime1">
              <a:rPr lang="LID4096" smtClean="0"/>
              <a:t>05/24/2026</a:t>
            </a:fld>
            <a:endParaRPr lang="LID4096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F099041-8A92-4FFB-8556-89796D511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6E22F7B-613D-4983-A479-AA135C0EB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63004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0F7629-F56D-459B-98F3-8CAE40E5F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LID4096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8552498-B267-4ED3-8ACF-7BAAA1A4A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C6194-F968-4D42-841F-B11B3B852595}" type="datetime1">
              <a:rPr lang="LID4096" smtClean="0"/>
              <a:t>05/24/2026</a:t>
            </a:fld>
            <a:endParaRPr lang="LID4096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E80958B-0B3E-40BC-A313-FC535E28A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B3F78ED-EFB9-4A38-9D1F-746ED94A8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43392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BF771A1-41D9-44A3-A814-AF8B2BD8C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6AA36-83E9-4E7F-896C-886DFE9B33B1}" type="datetime1">
              <a:rPr lang="LID4096" smtClean="0"/>
              <a:t>05/24/2026</a:t>
            </a:fld>
            <a:endParaRPr lang="LID4096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6FD346F-F445-42F6-BAEA-6C133B466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F26C7B6-876F-49A6-AE5A-0B64C324D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40674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1A0BD9-0E10-4FBD-8411-B59012609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LID4096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5F444C6-764F-478D-8357-362278658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LID4096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939EB28-F28A-4C87-8166-88B69B931D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1D967AA-D9C5-4DCF-820A-819B39519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B9A5F-217B-48EF-8BA5-8EF9A37051AA}" type="datetime1">
              <a:rPr lang="LID4096" smtClean="0"/>
              <a:t>05/24/2026</a:t>
            </a:fld>
            <a:endParaRPr lang="LID4096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FB86B4C-CC2C-4A5D-AD5C-3AB63F952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A17B487-5B7E-49E5-B75F-CD3FF5D2E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43472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CEB71A-763A-40F4-AC6C-2622CD827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LID4096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693A7BE-DEDD-4E3B-9DC2-24C4BD1806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77EC648-F63B-44C8-9E55-BF271861CD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7E60674-2C1D-4561-9663-C06BFD853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33DD7-4F54-4A0C-A329-4D82AAFD2429}" type="datetime1">
              <a:rPr lang="LID4096" smtClean="0"/>
              <a:t>05/24/2026</a:t>
            </a:fld>
            <a:endParaRPr lang="LID4096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CA1206F-88D9-4154-9CE8-FA97B9812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1467F61-5FEF-47A1-AEF7-C305A3284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26866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F1AA7E-530E-4B95-A468-0E20C52F2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LID4096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189EC88-8D76-4F0B-95D8-3E15925985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LID4096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7E9E36-0F95-44EA-A67A-A72498619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CBA73-9711-4545-82CF-42251A149565}" type="datetime1">
              <a:rPr lang="LID4096" smtClean="0"/>
              <a:t>05/24/2026</a:t>
            </a:fld>
            <a:endParaRPr lang="LID4096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896EEC3-9CDB-4802-BD9D-AEBA4C4F6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53086EA-E561-4ADF-A45F-4B6E286D8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75404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3644F3C-7315-467B-B489-DE8B4EE7FB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LID4096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4D157FA-942C-4259-8BBC-C3141FABFF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LID4096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1BEAB67-6B15-48CA-A6A5-BD732A146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B0182-3383-4541-9329-AD6AAF5F5452}" type="datetime1">
              <a:rPr lang="LID4096" smtClean="0"/>
              <a:t>05/24/2026</a:t>
            </a:fld>
            <a:endParaRPr lang="LID4096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DE5204C-5D89-40EB-B55B-9FF69B1C2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2B6388A-5CD5-44A1-B6D7-352EF245E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‹N°›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46150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254C0D1-8638-4D1C-845A-43930F648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  <a:endParaRPr lang="LID4096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4357355-DF7E-489D-BF1A-AF4D0E41BD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LID4096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1370BE8-5C02-4B95-879D-B40FD8AA87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87F375-7391-49DA-95D8-9E3A98FFB8BB}" type="datetime1">
              <a:rPr lang="LID4096" smtClean="0"/>
              <a:t>05/24/2026</a:t>
            </a:fld>
            <a:endParaRPr lang="LID4096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B830B7-B6A0-487B-A449-AB81B29CF6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CBE745-EFFB-4A7F-AC01-8240D56876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8AAC6D5-9475-480E-B9EE-E65FD4CC1713}" type="slidenum">
              <a:rPr lang="LID4096" smtClean="0"/>
              <a:pPr/>
              <a:t>‹N°›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930240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rgbClr val="FFC0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Wingdings" panose="05000000000000000000" pitchFamily="2" charset="2"/>
        <a:buChar char="Ø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Wingdings" panose="05000000000000000000" pitchFamily="2" charset="2"/>
        <a:buChar char="ü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Wingdings" panose="05000000000000000000" pitchFamily="2" charset="2"/>
        <a:buChar char="v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C7699A-A810-4553-A9A1-395A1F6D86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fr-FR" sz="3200" dirty="0"/>
              <a:t>Projet d’amélioration de l’espace numérique de travail (ENT) au sein de la Faculté de Médecine d’Antananarivo</a:t>
            </a:r>
            <a:endParaRPr lang="LID4096" sz="320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17C33A8-9613-4FE2-9E09-2FCCD9BEAE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7"/>
            <a:ext cx="6858000" cy="2133599"/>
          </a:xfrm>
        </p:spPr>
        <p:txBody>
          <a:bodyPr>
            <a:normAutofit/>
          </a:bodyPr>
          <a:lstStyle/>
          <a:p>
            <a:r>
              <a:rPr lang="fr-FR" dirty="0"/>
              <a:t>Réalisé et présenté par ZICO </a:t>
            </a:r>
          </a:p>
          <a:p>
            <a:r>
              <a:rPr lang="fr-FR" dirty="0"/>
              <a:t>Étudiant 5</a:t>
            </a:r>
            <a:r>
              <a:rPr lang="fr-FR" baseline="30000" dirty="0"/>
              <a:t>ème</a:t>
            </a:r>
            <a:r>
              <a:rPr lang="fr-FR" dirty="0"/>
              <a:t> année Médecine Humaine</a:t>
            </a:r>
          </a:p>
          <a:p>
            <a:r>
              <a:rPr lang="fr-FR" dirty="0"/>
              <a:t>Etudiants 5</a:t>
            </a:r>
            <a:r>
              <a:rPr lang="fr-FR" baseline="30000" dirty="0"/>
              <a:t>ème</a:t>
            </a:r>
            <a:r>
              <a:rPr lang="fr-FR" dirty="0"/>
              <a:t> année et 4</a:t>
            </a:r>
            <a:r>
              <a:rPr lang="fr-FR" baseline="30000" dirty="0"/>
              <a:t>ème</a:t>
            </a:r>
            <a:r>
              <a:rPr lang="fr-FR" dirty="0"/>
              <a:t> année</a:t>
            </a:r>
          </a:p>
        </p:txBody>
      </p:sp>
    </p:spTree>
    <p:extLst>
      <p:ext uri="{BB962C8B-B14F-4D97-AF65-F5344CB8AC3E}">
        <p14:creationId xmlns:p14="http://schemas.microsoft.com/office/powerpoint/2010/main" val="4188682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BF9ED4-77C2-407B-A846-D92BC9553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Plan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AEA845-1B8F-44C2-ACC3-EDA5D366A70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fr-FR" dirty="0"/>
              <a:t>Contexte général</a:t>
            </a:r>
          </a:p>
          <a:p>
            <a:pPr marL="457200" indent="-457200">
              <a:buFont typeface="+mj-lt"/>
              <a:buAutoNum type="arabicPeriod"/>
            </a:pPr>
            <a:r>
              <a:rPr lang="fr-FR" dirty="0"/>
              <a:t>Constats et problématiques</a:t>
            </a:r>
          </a:p>
          <a:p>
            <a:pPr marL="457200" indent="-457200">
              <a:buFont typeface="+mj-lt"/>
              <a:buAutoNum type="arabicPeriod"/>
            </a:pPr>
            <a:r>
              <a:rPr lang="fr-FR" dirty="0"/>
              <a:t>Conséquences pédagogiques</a:t>
            </a:r>
          </a:p>
          <a:p>
            <a:pPr marL="457200" indent="-457200">
              <a:buFont typeface="+mj-lt"/>
              <a:buAutoNum type="arabicPeriod"/>
            </a:pPr>
            <a:r>
              <a:rPr lang="fr-FR" dirty="0"/>
              <a:t>Vision du projet</a:t>
            </a:r>
          </a:p>
          <a:p>
            <a:pPr marL="457200" indent="-457200">
              <a:buFont typeface="+mj-lt"/>
              <a:buAutoNum type="arabicPeriod"/>
            </a:pPr>
            <a:r>
              <a:rPr lang="fr-FR" dirty="0"/>
              <a:t>Solution proposée</a:t>
            </a:r>
          </a:p>
          <a:p>
            <a:pPr marL="457200" indent="-457200">
              <a:buFont typeface="+mj-lt"/>
              <a:buAutoNum type="arabicPeriod"/>
            </a:pPr>
            <a:r>
              <a:rPr lang="fr-FR" dirty="0"/>
              <a:t>Organisation des utilisateurs</a:t>
            </a:r>
          </a:p>
          <a:p>
            <a:pPr marL="457200" indent="-457200">
              <a:buFont typeface="+mj-lt"/>
              <a:buAutoNum type="arabicPeriod"/>
            </a:pPr>
            <a:r>
              <a:rPr lang="fr-FR" dirty="0"/>
              <a:t>Fonctionnalités principales</a:t>
            </a:r>
          </a:p>
          <a:p>
            <a:pPr marL="457200" indent="-457200">
              <a:buFont typeface="+mj-lt"/>
              <a:buAutoNum type="arabicPeriod"/>
            </a:pPr>
            <a:endParaRPr lang="fr-FR" dirty="0"/>
          </a:p>
          <a:p>
            <a:endParaRPr lang="LID4096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C982F6E-4F2E-439A-BACE-1DB672373DF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marL="457200" indent="-457200">
              <a:buAutoNum type="arabicPeriod" startAt="8"/>
            </a:pPr>
            <a:r>
              <a:rPr lang="fr-FR" dirty="0"/>
              <a:t>Impact pédagogiques attendu</a:t>
            </a:r>
          </a:p>
          <a:p>
            <a:pPr marL="457200" indent="-457200">
              <a:buAutoNum type="arabicPeriod" startAt="8"/>
            </a:pPr>
            <a:r>
              <a:rPr lang="fr-FR" dirty="0"/>
              <a:t>Perspectives d’évolution</a:t>
            </a:r>
          </a:p>
          <a:p>
            <a:pPr marL="457200" indent="-457200">
              <a:buAutoNum type="arabicPeriod" startAt="8"/>
            </a:pPr>
            <a:r>
              <a:rPr lang="fr-FR" dirty="0"/>
              <a:t>Illustrations </a:t>
            </a:r>
          </a:p>
          <a:p>
            <a:pPr marL="457200" indent="-457200">
              <a:buAutoNum type="arabicPeriod" startAt="8"/>
            </a:pPr>
            <a:r>
              <a:rPr lang="fr-FR" dirty="0"/>
              <a:t>Pourquoi la phase pilote ?</a:t>
            </a:r>
          </a:p>
          <a:p>
            <a:pPr marL="457200" indent="-457200">
              <a:buAutoNum type="arabicPeriod" startAt="8"/>
            </a:pPr>
            <a:r>
              <a:rPr lang="fr-FR" dirty="0"/>
              <a:t>Pourquoi vous êtes importants ?</a:t>
            </a:r>
          </a:p>
          <a:p>
            <a:pPr marL="457200" indent="-457200">
              <a:buAutoNum type="arabicPeriod" startAt="8"/>
            </a:pPr>
            <a:r>
              <a:rPr lang="fr-FR" dirty="0"/>
              <a:t>La réalité du projet</a:t>
            </a:r>
          </a:p>
          <a:p>
            <a:pPr marL="457200" indent="-457200">
              <a:buAutoNum type="arabicPeriod" startAt="8"/>
            </a:pPr>
            <a:r>
              <a:rPr lang="fr-FR" dirty="0"/>
              <a:t>Conclusion </a:t>
            </a:r>
            <a:endParaRPr lang="LID4096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069F71B-B40A-498A-8BB7-CC87B677D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17625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CCEFE9-49B4-4C19-B978-4863CDBEF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Contexte général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CC6092-1449-40AB-96FB-58500D9AE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L’évolution rapide des technologies transforme les méthodes d’apprentissage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Les étudiants ont besoin d’outils numériques plus interactifs et accessibles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Les plateformes universitaires actuelles restent souvent limitées dans l’approche pédagogique convenable à ces besoins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Importance d’un accompagnement plus ou moins personnalisé dans les études médicales </a:t>
            </a:r>
          </a:p>
          <a:p>
            <a:endParaRPr lang="LID4096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E7A153F-1686-4CA1-BEC4-BF621C5AE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38603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FECCD5-D371-4767-8DA9-E32EA7173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Constats et problématiques (1)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3BB0080-A068-40B4-A37A-D6F0C0FA8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87270"/>
            <a:ext cx="7886700" cy="4351338"/>
          </a:xfrm>
        </p:spPr>
        <p:txBody>
          <a:bodyPr>
            <a:normAutofit fontScale="92500"/>
          </a:bodyPr>
          <a:lstStyle/>
          <a:p>
            <a:r>
              <a:rPr lang="fr-FR" b="1" dirty="0"/>
              <a:t>Limites des plateformes actuelles </a:t>
            </a:r>
          </a:p>
          <a:p>
            <a:pPr lvl="1"/>
            <a:r>
              <a:rPr lang="fr-FR" dirty="0"/>
              <a:t>Interface peu adaptée aux usages modernes </a:t>
            </a:r>
          </a:p>
          <a:p>
            <a:pPr lvl="1"/>
            <a:r>
              <a:rPr lang="fr-FR" dirty="0"/>
              <a:t>Faible flexibilité dans l’organisation de l’apprentissage  </a:t>
            </a:r>
          </a:p>
          <a:p>
            <a:pPr lvl="1"/>
            <a:r>
              <a:rPr lang="fr-FR" dirty="0"/>
              <a:t>Difficulté d’accès rapide aux ressources pédagogiques </a:t>
            </a:r>
          </a:p>
          <a:p>
            <a:pPr lvl="1"/>
            <a:r>
              <a:rPr lang="fr-FR" dirty="0"/>
              <a:t>Peu d’interactivité pédagogique </a:t>
            </a:r>
          </a:p>
          <a:p>
            <a:pPr lvl="1"/>
            <a:r>
              <a:rPr lang="fr-FR" dirty="0"/>
              <a:t>Absence d’outils de suivi individuel</a:t>
            </a:r>
          </a:p>
          <a:p>
            <a:endParaRPr lang="LID4096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9CD5C19-F83F-4AD6-A8EF-E427A0F1D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49924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FECCD5-D371-4767-8DA9-E32EA7173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Constats et problématiques (2)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3BB0080-A068-40B4-A37A-D6F0C0FA8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Engagement étudiant limité </a:t>
            </a:r>
          </a:p>
          <a:p>
            <a:pPr lvl="1"/>
            <a:r>
              <a:rPr lang="fr-FR" dirty="0"/>
              <a:t>Faible utilisation régulière de la plateforme existante </a:t>
            </a:r>
          </a:p>
          <a:p>
            <a:pPr lvl="1"/>
            <a:r>
              <a:rPr lang="fr-FR" dirty="0"/>
              <a:t>Perte progressive d’intérêt des étudiants </a:t>
            </a:r>
          </a:p>
          <a:p>
            <a:pPr lvl="1"/>
            <a:r>
              <a:rPr lang="fr-FR" dirty="0"/>
              <a:t>Difficultés liées à l’authentification et à l’accessibilité </a:t>
            </a:r>
          </a:p>
          <a:p>
            <a:endParaRPr lang="LID4096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0C66B76-6D8B-4427-A52E-59490C5DD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19058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FB0C4C-A6FC-4961-9642-1B1A07A3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3. Conséquences pédagogiques (1)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EF1196-4E5B-4295-95C6-622CB07B1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Pour les étudiants</a:t>
            </a:r>
          </a:p>
          <a:p>
            <a:pPr lvl="1"/>
            <a:r>
              <a:rPr lang="fr-FR" dirty="0"/>
              <a:t>Apprentissage centré principalement sur la prise de notes comme au collège et au lycée </a:t>
            </a:r>
          </a:p>
          <a:p>
            <a:pPr lvl="1"/>
            <a:r>
              <a:rPr lang="fr-FR" dirty="0"/>
              <a:t>Manque d’exercices pratiques et d’auto-évaluation </a:t>
            </a:r>
          </a:p>
          <a:p>
            <a:pPr lvl="1"/>
            <a:r>
              <a:rPr lang="fr-FR" dirty="0"/>
              <a:t>Difficulté à suivre sa progression académique </a:t>
            </a:r>
          </a:p>
          <a:p>
            <a:pPr lvl="1"/>
            <a:r>
              <a:rPr lang="fr-FR" dirty="0"/>
              <a:t>Révisions souvent désorganisées </a:t>
            </a:r>
          </a:p>
          <a:p>
            <a:pPr lvl="1"/>
            <a:r>
              <a:rPr lang="fr-FR" dirty="0"/>
              <a:t>Difficulté à identifier ses lacunes</a:t>
            </a:r>
          </a:p>
          <a:p>
            <a:endParaRPr lang="LID4096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1F1998E-45CA-4588-91C2-E95D347F1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12157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FF5C48-0F13-4A56-9B94-2B2171035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3. Conséquences pédagogiques (2)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0A60B6-90A3-419D-AAE6-942B5205A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Une question importante</a:t>
            </a:r>
          </a:p>
          <a:p>
            <a:r>
              <a:rPr lang="fr-FR" dirty="0"/>
              <a:t>Avec l’utilisation de la technologie, si l’apprentissage devenait :</a:t>
            </a:r>
          </a:p>
          <a:p>
            <a:pPr lvl="1"/>
            <a:r>
              <a:rPr lang="fr-FR" dirty="0"/>
              <a:t>Plus intelligent ?</a:t>
            </a:r>
          </a:p>
          <a:p>
            <a:pPr lvl="1"/>
            <a:r>
              <a:rPr lang="fr-FR" dirty="0"/>
              <a:t>Plus rapide ?</a:t>
            </a:r>
          </a:p>
          <a:p>
            <a:pPr lvl="1"/>
            <a:r>
              <a:rPr lang="fr-FR" dirty="0"/>
              <a:t>Plus interactif ?</a:t>
            </a:r>
          </a:p>
          <a:p>
            <a:pPr lvl="1"/>
            <a:r>
              <a:rPr lang="fr-FR" dirty="0"/>
              <a:t>Plus personnalisé ?</a:t>
            </a:r>
            <a:endParaRPr lang="LID4096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C771EBB-7B5B-4E6D-B71B-74764646B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76624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46B53B-DFF1-41D1-917F-B0FF1590D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4. Vision et objectifs du projet (1)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42D07EF-DF29-4525-9277-A220E398D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Vision </a:t>
            </a:r>
          </a:p>
          <a:p>
            <a:pPr lvl="1"/>
            <a:r>
              <a:rPr lang="fr-FR" dirty="0"/>
              <a:t>« Créer un environnement numérique moderne permettant un apprentissage médical plus interactif, structuré et personnalisé. »</a:t>
            </a:r>
          </a:p>
          <a:p>
            <a:endParaRPr lang="LID4096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71800DE-1C0A-44B3-BF44-9392531B2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67846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46B53B-DFF1-41D1-917F-B0FF1590D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4. Vision et objectifs du projet (2)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42D07EF-DF29-4525-9277-A220E398D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b="1" dirty="0"/>
              <a:t>Objectifs </a:t>
            </a:r>
          </a:p>
          <a:p>
            <a:pPr lvl="1"/>
            <a:r>
              <a:rPr lang="fr-FR" dirty="0"/>
              <a:t>Centraliser les ressources pédagogiques </a:t>
            </a:r>
          </a:p>
          <a:p>
            <a:pPr lvl="1"/>
            <a:r>
              <a:rPr lang="fr-FR" dirty="0"/>
              <a:t>Favoriser l’apprentissage actif </a:t>
            </a:r>
          </a:p>
          <a:p>
            <a:pPr lvl="1"/>
            <a:r>
              <a:rPr lang="fr-FR" dirty="0"/>
              <a:t>Faciliter le suivi académique des étudiants </a:t>
            </a:r>
          </a:p>
          <a:p>
            <a:pPr lvl="1"/>
            <a:r>
              <a:rPr lang="fr-FR" dirty="0"/>
              <a:t>Renforcer l’interaction pédagogique entre étudiants et enseignants </a:t>
            </a:r>
          </a:p>
          <a:p>
            <a:pPr lvl="1"/>
            <a:r>
              <a:rPr lang="fr-FR" dirty="0"/>
              <a:t>Utiliser les technologies numériques pour améliorer la qualité de la formation médicale</a:t>
            </a:r>
          </a:p>
          <a:p>
            <a:endParaRPr lang="LID4096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189706B-B83A-4D22-99A8-390DFF722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18420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0E3621-4301-46F4-A0C7-FA47B2415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5. Solution proposée (1)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479824-79D4-4864-B384-9EDFA4DAB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b="1" dirty="0"/>
              <a:t>La plateforme propose </a:t>
            </a:r>
          </a:p>
          <a:p>
            <a:pPr lvl="1"/>
            <a:r>
              <a:rPr lang="fr-FR" dirty="0"/>
              <a:t>Un espace numérique centralisé pour les études médicales </a:t>
            </a:r>
          </a:p>
          <a:p>
            <a:pPr lvl="1"/>
            <a:r>
              <a:rPr lang="fr-FR" dirty="0"/>
              <a:t>Une organisation des contenus par niveau d’étude et unité d’enseignement </a:t>
            </a:r>
          </a:p>
          <a:p>
            <a:pPr lvl="1"/>
            <a:r>
              <a:rPr lang="fr-FR" dirty="0"/>
              <a:t>Des outils pédagogiques interactifs </a:t>
            </a:r>
          </a:p>
          <a:p>
            <a:pPr lvl="1"/>
            <a:r>
              <a:rPr lang="fr-FR" dirty="0"/>
              <a:t>Un système automatisé de suivi des performances </a:t>
            </a:r>
          </a:p>
          <a:p>
            <a:pPr lvl="1"/>
            <a:r>
              <a:rPr lang="fr-FR" dirty="0"/>
              <a:t>Une expérience utilisateur moderne inspirée des plateformes sociales et académiques</a:t>
            </a:r>
          </a:p>
          <a:p>
            <a:endParaRPr lang="LID4096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7D123A3-ECC7-4553-B61C-97C101150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10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88896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0E3621-4301-46F4-A0C7-FA47B2415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5. Solution proposée (2)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479824-79D4-4864-B384-9EDFA4DAB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Principes de conception </a:t>
            </a:r>
          </a:p>
          <a:p>
            <a:pPr lvl="1"/>
            <a:r>
              <a:rPr lang="fr-FR" dirty="0"/>
              <a:t>Simplicité d’utilisation </a:t>
            </a:r>
          </a:p>
          <a:p>
            <a:pPr lvl="1"/>
            <a:r>
              <a:rPr lang="fr-FR" dirty="0"/>
              <a:t>Navigation intuitive </a:t>
            </a:r>
          </a:p>
          <a:p>
            <a:pPr lvl="1"/>
            <a:r>
              <a:rPr lang="fr-FR" dirty="0"/>
              <a:t>Accessibilité rapide aux contenus </a:t>
            </a:r>
          </a:p>
          <a:p>
            <a:pPr lvl="1"/>
            <a:r>
              <a:rPr lang="fr-FR" dirty="0"/>
              <a:t>Automatisation des statistiques et du suivi pédagogique</a:t>
            </a:r>
          </a:p>
          <a:p>
            <a:endParaRPr lang="LID4096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1A6730D-D27C-4E19-A33B-E3BDA7B93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11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80629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EA2369-480A-4F5A-8CDF-15500EBC3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6. Organisation des utilisateurs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452677-4300-4E6B-97C4-79C435AEE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Trois types d’utilisateur : </a:t>
            </a:r>
          </a:p>
          <a:p>
            <a:pPr lvl="1"/>
            <a:r>
              <a:rPr lang="fr-FR" dirty="0"/>
              <a:t>Étudiant</a:t>
            </a:r>
          </a:p>
          <a:p>
            <a:pPr lvl="1"/>
            <a:r>
              <a:rPr lang="fr-FR" dirty="0"/>
              <a:t>Enseignant </a:t>
            </a:r>
          </a:p>
          <a:p>
            <a:pPr lvl="1"/>
            <a:r>
              <a:rPr lang="fr-FR" dirty="0"/>
              <a:t>Administrateur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0CE75C3-7375-428F-BA8E-8823A2D1E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12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48352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635E28-6486-4D2F-898B-635EB77B9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7. Fonctionnalités principales (1)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7ABDCC-FE92-433D-BB9E-04CC81B83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Outils pédagogiques </a:t>
            </a:r>
          </a:p>
          <a:p>
            <a:pPr lvl="1"/>
            <a:r>
              <a:rPr lang="fr-FR" dirty="0"/>
              <a:t>Leçons et ressources pédagogiques </a:t>
            </a:r>
          </a:p>
          <a:p>
            <a:pPr lvl="1"/>
            <a:r>
              <a:rPr lang="fr-FR" dirty="0"/>
              <a:t>Quiz interactifs </a:t>
            </a:r>
          </a:p>
          <a:p>
            <a:pPr lvl="2"/>
            <a:r>
              <a:rPr lang="fr-FR" dirty="0"/>
              <a:t>QCM </a:t>
            </a:r>
          </a:p>
          <a:p>
            <a:pPr lvl="2"/>
            <a:r>
              <a:rPr lang="fr-FR" dirty="0"/>
              <a:t>Questions vrai/faux </a:t>
            </a:r>
          </a:p>
          <a:p>
            <a:pPr lvl="2"/>
            <a:r>
              <a:rPr lang="fr-FR" dirty="0"/>
              <a:t>Questions-réponses </a:t>
            </a:r>
          </a:p>
          <a:p>
            <a:pPr lvl="2"/>
            <a:r>
              <a:rPr lang="fr-FR" dirty="0"/>
              <a:t>Cas cliniques</a:t>
            </a:r>
          </a:p>
          <a:p>
            <a:endParaRPr lang="LID4096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CD76A39-7BA1-4484-8012-16A9F4A1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13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927012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5877DB-23BC-4630-A93E-BB4880079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7. Fonctionnalités principales (2)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A5D8AE-B6DD-4EC8-B401-1C3C7032B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Outils étudiants </a:t>
            </a:r>
          </a:p>
          <a:p>
            <a:pPr lvl="1"/>
            <a:r>
              <a:rPr lang="fr-FR" dirty="0"/>
              <a:t>Planification personnelle des révisions </a:t>
            </a:r>
          </a:p>
          <a:p>
            <a:pPr lvl="1"/>
            <a:r>
              <a:rPr lang="fr-FR" dirty="0"/>
              <a:t>Ajout de notes personnelles (flashcard, note en stage, explication en salle de classe)</a:t>
            </a:r>
          </a:p>
          <a:p>
            <a:pPr lvl="1"/>
            <a:r>
              <a:rPr lang="fr-FR" dirty="0"/>
              <a:t>Consultation des résultats </a:t>
            </a:r>
          </a:p>
          <a:p>
            <a:pPr lvl="1"/>
            <a:r>
              <a:rPr lang="fr-FR" dirty="0"/>
              <a:t>Visualisation des statistiques d’apprentissage</a:t>
            </a:r>
          </a:p>
          <a:p>
            <a:endParaRPr lang="LID4096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5CB63BD-211E-47EB-AEEC-EC628D0A2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14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268006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5877DB-23BC-4630-A93E-BB4880079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7. Fonctionnalités principales (3)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A5D8AE-B6DD-4EC8-B401-1C3C7032B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Outils enseignants </a:t>
            </a:r>
          </a:p>
          <a:p>
            <a:pPr lvl="1"/>
            <a:r>
              <a:rPr lang="fr-FR" dirty="0"/>
              <a:t>Création et gestion des contenus </a:t>
            </a:r>
          </a:p>
          <a:p>
            <a:pPr lvl="1"/>
            <a:r>
              <a:rPr lang="fr-FR" dirty="0"/>
              <a:t>Analyse des statistiques pédagogiques </a:t>
            </a:r>
          </a:p>
          <a:p>
            <a:pPr lvl="1"/>
            <a:r>
              <a:rPr lang="fr-FR" dirty="0"/>
              <a:t>Suivi des performances étudiantes </a:t>
            </a:r>
          </a:p>
          <a:p>
            <a:endParaRPr lang="LID4096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572CBE9-AA32-4E58-8915-84D2F97D9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15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452826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5877DB-23BC-4630-A93E-BB4880079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7. Fonctionnalités principales (4)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A5D8AE-B6DD-4EC8-B401-1C3C7032B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Outils administratifs </a:t>
            </a:r>
          </a:p>
          <a:p>
            <a:pPr lvl="1"/>
            <a:r>
              <a:rPr lang="fr-FR" dirty="0"/>
              <a:t>Gestion globale de la plateforme </a:t>
            </a:r>
          </a:p>
          <a:p>
            <a:pPr lvl="1"/>
            <a:r>
              <a:rPr lang="fr-FR" dirty="0"/>
              <a:t>Maintenance et mises à jour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3D7F985-2ABE-4E99-A6EA-F4A37D859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16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172964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BE8DF1-B0EF-484C-8AED-55F483428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8. Impact pédagogique attendu (1)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F2F13AC-5C1E-4797-8CA0-15EED0816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Pour les étudiants </a:t>
            </a:r>
          </a:p>
          <a:p>
            <a:pPr lvl="1"/>
            <a:r>
              <a:rPr lang="fr-FR" dirty="0"/>
              <a:t>Apprentissage plus actif et interactif </a:t>
            </a:r>
          </a:p>
          <a:p>
            <a:pPr lvl="1"/>
            <a:r>
              <a:rPr lang="fr-FR" dirty="0"/>
              <a:t>Meilleure organisation des révisions </a:t>
            </a:r>
          </a:p>
          <a:p>
            <a:pPr lvl="1"/>
            <a:r>
              <a:rPr lang="fr-FR" dirty="0"/>
              <a:t>Renforcement de l’autonomie </a:t>
            </a:r>
          </a:p>
          <a:p>
            <a:pPr lvl="1"/>
            <a:r>
              <a:rPr lang="fr-FR" dirty="0"/>
              <a:t>Identification plus rapide des difficultés</a:t>
            </a:r>
          </a:p>
          <a:p>
            <a:endParaRPr lang="LID4096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8768607-748C-4EF5-8E04-C805F504D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17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436487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BE8DF1-B0EF-484C-8AED-55F483428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8. Impact pédagogique attendu (2)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F2F13AC-5C1E-4797-8CA0-15EED0816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Pour les enseignants </a:t>
            </a:r>
          </a:p>
          <a:p>
            <a:pPr lvl="1"/>
            <a:r>
              <a:rPr lang="fr-FR" dirty="0"/>
              <a:t>Meilleur suivi pédagogique </a:t>
            </a:r>
          </a:p>
          <a:p>
            <a:pPr lvl="1"/>
            <a:r>
              <a:rPr lang="fr-FR" dirty="0"/>
              <a:t>Accès aux statistiques académiques </a:t>
            </a:r>
          </a:p>
          <a:p>
            <a:pPr lvl="1"/>
            <a:r>
              <a:rPr lang="fr-FR" dirty="0"/>
              <a:t>Optimisation des méthodes d’enseignement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1B29E28-9EF3-4BA9-80A7-6740459A5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18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425922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BE8DF1-B0EF-484C-8AED-55F483428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8. Impact pédagogique attendu (3)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F2F13AC-5C1E-4797-8CA0-15EED0816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Pour la faculté </a:t>
            </a:r>
          </a:p>
          <a:p>
            <a:pPr lvl="1"/>
            <a:r>
              <a:rPr lang="fr-FR" dirty="0"/>
              <a:t>Modernisation de l’environnement numérique </a:t>
            </a:r>
          </a:p>
          <a:p>
            <a:pPr lvl="1"/>
            <a:r>
              <a:rPr lang="fr-FR" dirty="0"/>
              <a:t>Valorisation de l’innovation pédagogique </a:t>
            </a:r>
          </a:p>
          <a:p>
            <a:pPr lvl="1"/>
            <a:r>
              <a:rPr lang="fr-FR" dirty="0"/>
              <a:t>Amélioration potentielle des performances académiques</a:t>
            </a:r>
          </a:p>
          <a:p>
            <a:endParaRPr lang="LID4096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CBB7508-1CD1-42BF-8838-3483E549E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19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63193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620B4E-5428-4F2C-9442-E70B29713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9. Perspectives d’évolution (1)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5BAAA90-385C-4830-87B6-810EAAB67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Intégration de l’intelligence artificielle </a:t>
            </a:r>
          </a:p>
          <a:p>
            <a:pPr lvl="1"/>
            <a:r>
              <a:rPr lang="fr-FR" dirty="0"/>
              <a:t>Système d’autocorrection des questions ouvertes </a:t>
            </a:r>
          </a:p>
          <a:p>
            <a:pPr lvl="1"/>
            <a:r>
              <a:rPr lang="fr-FR" dirty="0"/>
              <a:t>Génération intelligente d’exercices </a:t>
            </a:r>
          </a:p>
          <a:p>
            <a:pPr lvl="1"/>
            <a:r>
              <a:rPr lang="fr-FR" dirty="0"/>
              <a:t>Assistance pédagogique automatisée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EA3620-848D-4F76-BE97-8C44FF030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20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95809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620B4E-5428-4F2C-9442-E70B29713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9. Perspectives d’évolution (2)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5BAAA90-385C-4830-87B6-810EAAB67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Extensions futures </a:t>
            </a:r>
          </a:p>
          <a:p>
            <a:pPr lvl="1"/>
            <a:r>
              <a:rPr lang="fr-FR" dirty="0"/>
              <a:t>Guides pratiques d’actes médicaux conforme aux ressources existants dans notre pays</a:t>
            </a:r>
          </a:p>
          <a:p>
            <a:pPr lvl="1"/>
            <a:r>
              <a:rPr lang="fr-FR" dirty="0"/>
              <a:t>Analyse avancée des performances </a:t>
            </a:r>
          </a:p>
          <a:p>
            <a:pPr lvl="1"/>
            <a:r>
              <a:rPr lang="fr-FR" dirty="0"/>
              <a:t>Compatibilité mobile avancée </a:t>
            </a:r>
          </a:p>
          <a:p>
            <a:endParaRPr lang="LID4096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710CCB4-63B2-44DD-ACA9-C8FD6AD58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21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1630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5F6E69-02FA-4584-9325-9CFAF3BA1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10. Illustrations (1)</a:t>
            </a:r>
            <a:endParaRPr lang="LID4096" dirty="0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4E0DB73E-F695-49B0-B6DE-E29F5CBD51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923495"/>
            <a:ext cx="7886700" cy="4200050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5E169C9-911B-439C-9084-712421504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22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366554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5F6E69-02FA-4584-9325-9CFAF3BA1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10. Illustrations (2)</a:t>
            </a:r>
            <a:endParaRPr lang="LID4096" dirty="0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30D343E9-6B1A-4CAF-8661-C9346175EF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43603"/>
            <a:ext cx="7886700" cy="3915382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2958FCD-5D67-4EEA-B4CB-A4DCB2F56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23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985791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5F6E69-02FA-4584-9325-9CFAF3BA1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10. Illustrations (3)</a:t>
            </a:r>
            <a:endParaRPr lang="LID4096" dirty="0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2EC0B40A-C91C-497B-B5F1-E9FA2CB45F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620" y="1825625"/>
            <a:ext cx="7814760" cy="4351338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0DC52C1-B808-4A58-AC91-8896F8E35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24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889137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5F6E69-02FA-4584-9325-9CFAF3BA1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11. Pourquoi une phase pilote ?</a:t>
            </a:r>
            <a:endParaRPr lang="LID4096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0DC52C1-B808-4A58-AC91-8896F8E35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25</a:t>
            </a:fld>
            <a:endParaRPr lang="LID4096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A0909736-C4BA-466C-A435-2085939AA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Objectifs :</a:t>
            </a:r>
          </a:p>
          <a:p>
            <a:pPr lvl="1"/>
            <a:r>
              <a:rPr lang="fr-FR" dirty="0"/>
              <a:t>détecter les erreurs de programmation</a:t>
            </a:r>
          </a:p>
          <a:p>
            <a:pPr lvl="1"/>
            <a:r>
              <a:rPr lang="fr-FR" dirty="0"/>
              <a:t>améliorer expérience utilisateur </a:t>
            </a:r>
          </a:p>
          <a:p>
            <a:pPr lvl="1"/>
            <a:r>
              <a:rPr lang="fr-FR" dirty="0"/>
              <a:t>adapter aux besoins réels </a:t>
            </a:r>
          </a:p>
          <a:p>
            <a:pPr lvl="1"/>
            <a:r>
              <a:rPr lang="fr-FR" dirty="0"/>
              <a:t>optimiser les performances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0317172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5F6E69-02FA-4584-9325-9CFAF3BA1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12. Pourquoi vous êtes importants ?</a:t>
            </a:r>
            <a:endParaRPr lang="LID4096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0DC52C1-B808-4A58-AC91-8896F8E35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26</a:t>
            </a:fld>
            <a:endParaRPr lang="LID4096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A0909736-C4BA-466C-A435-2085939AA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Cette plateforme est construite pour les étudiants mais aussi avec les étudiants</a:t>
            </a:r>
          </a:p>
          <a:p>
            <a:r>
              <a:rPr lang="fr-FR" dirty="0"/>
              <a:t>Les participants pilotes :</a:t>
            </a:r>
          </a:p>
          <a:p>
            <a:pPr lvl="1"/>
            <a:r>
              <a:rPr lang="fr-FR" dirty="0"/>
              <a:t>Influencent les futures fonctionnalités</a:t>
            </a:r>
          </a:p>
          <a:p>
            <a:pPr lvl="1"/>
            <a:r>
              <a:rPr lang="fr-FR" dirty="0"/>
              <a:t>Proposent l’améliorations</a:t>
            </a:r>
          </a:p>
          <a:p>
            <a:pPr lvl="1"/>
            <a:r>
              <a:rPr lang="fr-FR" dirty="0"/>
              <a:t>Testent avant tout le monde</a:t>
            </a:r>
          </a:p>
          <a:p>
            <a:pPr lvl="1"/>
            <a:r>
              <a:rPr lang="fr-FR" dirty="0"/>
              <a:t>Deviennent les premiers membres fondateurs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1631361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5F6E69-02FA-4584-9325-9CFAF3BA1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13. La réalité du projet</a:t>
            </a:r>
            <a:endParaRPr lang="LID4096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0DC52C1-B808-4A58-AC91-8896F8E35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27</a:t>
            </a:fld>
            <a:endParaRPr lang="LID4096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A0909736-C4BA-466C-A435-2085939AA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projet encore indépendant</a:t>
            </a:r>
          </a:p>
          <a:p>
            <a:pPr lvl="1"/>
            <a:r>
              <a:rPr lang="fr-FR" dirty="0"/>
              <a:t>Pas encore soutenu financièrement</a:t>
            </a:r>
          </a:p>
          <a:p>
            <a:pPr lvl="1"/>
            <a:r>
              <a:rPr lang="fr-FR" dirty="0"/>
              <a:t>Infrastructure en construction</a:t>
            </a:r>
          </a:p>
          <a:p>
            <a:pPr lvl="1"/>
            <a:r>
              <a:rPr lang="fr-FR" dirty="0"/>
              <a:t>Nombre d’utilisateur très limité comparé à notre effectif</a:t>
            </a:r>
          </a:p>
          <a:p>
            <a:pPr lvl="1"/>
            <a:r>
              <a:rPr lang="fr-FR" dirty="0"/>
              <a:t>1 mois d’hébergement seulement</a:t>
            </a:r>
          </a:p>
          <a:p>
            <a:pPr lvl="1"/>
            <a:r>
              <a:rPr lang="fr-FR" dirty="0"/>
              <a:t>A déjà eu soutien d’un Professeur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3020429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5F6E69-02FA-4584-9325-9CFAF3BA1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14. Conclusion  </a:t>
            </a:r>
            <a:endParaRPr lang="LID4096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5EDA45-CAF8-463A-A731-B2B0D0638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Une plateforme pensée pour les besoins réels des étudiants en médecine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Une approche combinant pédagogie et technologie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Un projet pouvant contribuer à la modernisation de l’enseignement médical </a:t>
            </a:r>
          </a:p>
          <a:p>
            <a:r>
              <a:rPr lang="fr-FR" b="1" dirty="0"/>
              <a:t>Demande :</a:t>
            </a:r>
          </a:p>
          <a:p>
            <a:pPr lvl="1"/>
            <a:r>
              <a:rPr lang="fr-FR" b="1" dirty="0"/>
              <a:t> </a:t>
            </a:r>
            <a:r>
              <a:rPr lang="fr-FR" dirty="0"/>
              <a:t>participation active de votre part pendant la phase pilote</a:t>
            </a:r>
          </a:p>
          <a:p>
            <a:pPr lvl="1"/>
            <a:r>
              <a:rPr lang="fr-FR" dirty="0"/>
              <a:t>Donner votre feedback d’une manière constrictive</a:t>
            </a:r>
          </a:p>
          <a:p>
            <a:pPr lvl="1"/>
            <a:r>
              <a:rPr lang="fr-FR"/>
              <a:t>Eventuelle </a:t>
            </a:r>
            <a:r>
              <a:rPr lang="fr-FR" dirty="0"/>
              <a:t>contribution techniques, ressources, matériels</a:t>
            </a:r>
            <a:r>
              <a:rPr lang="fr-FR"/>
              <a:t>, financière</a:t>
            </a:r>
            <a:endParaRPr lang="fr-FR" dirty="0"/>
          </a:p>
          <a:p>
            <a:pPr lvl="1"/>
            <a:endParaRPr lang="LID4096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C46EDE0-3CF6-40AA-9161-399C36A0C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28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872322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52D5BF-FC4A-4D64-827D-3CC267217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70027"/>
            <a:ext cx="7886700" cy="2852737"/>
          </a:xfrm>
        </p:spPr>
        <p:txBody>
          <a:bodyPr>
            <a:noAutofit/>
          </a:bodyPr>
          <a:lstStyle/>
          <a:p>
            <a:r>
              <a:rPr lang="fr-FR" sz="3200" dirty="0"/>
              <a:t>« Investir dans les outils pédagogiques numériques, c’est investir dans la qualité de la formation médicale de demain. »</a:t>
            </a:r>
            <a:endParaRPr lang="LID4096" sz="320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8B73262-6FDF-4637-9D1F-E236EF13E4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932479E-FD17-4129-8A18-ABB231EF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29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076937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97FD37-C828-4D20-BED9-6BD339579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42805"/>
            <a:ext cx="7886700" cy="2852737"/>
          </a:xfrm>
        </p:spPr>
        <p:txBody>
          <a:bodyPr>
            <a:normAutofit/>
          </a:bodyPr>
          <a:lstStyle/>
          <a:p>
            <a:r>
              <a:rPr lang="fr-FR" sz="3200" dirty="0"/>
              <a:t>Merci pour votre temps et de votre aimable attention !!!</a:t>
            </a:r>
            <a:endParaRPr lang="LID4096" sz="320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1D99C91-09A3-4760-A71F-B953DE1B93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F1FE3E5-6E8D-4C87-A9CC-47B87D3CE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AC6D5-9475-480E-B9EE-E65FD4CC1713}" type="slidenum">
              <a:rPr lang="LID4096" smtClean="0"/>
              <a:t>30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675750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C7699A-A810-4553-A9A1-395A1F6D86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fr-FR" sz="3200" dirty="0"/>
              <a:t>Projet d’amélioration de l’espace numérique de travail (ENT) au sein de la Faculté de Médecine d’Antananarivo</a:t>
            </a:r>
            <a:endParaRPr lang="LID4096" sz="320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17C33A8-9613-4FE2-9E09-2FCCD9BEAE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7"/>
            <a:ext cx="6858000" cy="2133599"/>
          </a:xfrm>
        </p:spPr>
        <p:txBody>
          <a:bodyPr>
            <a:normAutofit/>
          </a:bodyPr>
          <a:lstStyle/>
          <a:p>
            <a:r>
              <a:rPr lang="fr-FR" dirty="0"/>
              <a:t>Réalisé et présenté par ZICO </a:t>
            </a:r>
          </a:p>
          <a:p>
            <a:r>
              <a:rPr lang="fr-FR" dirty="0"/>
              <a:t>Étudiant 5</a:t>
            </a:r>
            <a:r>
              <a:rPr lang="fr-FR" baseline="30000" dirty="0"/>
              <a:t>ème</a:t>
            </a:r>
            <a:r>
              <a:rPr lang="fr-FR" dirty="0"/>
              <a:t> année Médecine Humaine</a:t>
            </a:r>
          </a:p>
          <a:p>
            <a:r>
              <a:rPr lang="fr-FR" dirty="0"/>
              <a:t>Etudiants 5</a:t>
            </a:r>
            <a:r>
              <a:rPr lang="fr-FR" baseline="30000" dirty="0"/>
              <a:t>ème</a:t>
            </a:r>
            <a:r>
              <a:rPr lang="fr-FR" dirty="0"/>
              <a:t> année et 4</a:t>
            </a:r>
            <a:r>
              <a:rPr lang="fr-FR" baseline="30000" dirty="0"/>
              <a:t>ème</a:t>
            </a:r>
            <a:r>
              <a:rPr lang="fr-FR" dirty="0"/>
              <a:t> année</a:t>
            </a:r>
          </a:p>
        </p:txBody>
      </p:sp>
    </p:spTree>
    <p:extLst>
      <p:ext uri="{BB962C8B-B14F-4D97-AF65-F5344CB8AC3E}">
        <p14:creationId xmlns:p14="http://schemas.microsoft.com/office/powerpoint/2010/main" val="35525351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1239</TotalTime>
  <Words>982</Words>
  <Application>Microsoft Office PowerPoint</Application>
  <PresentationFormat>Affichage à l'écran (4:3)</PresentationFormat>
  <Paragraphs>206</Paragraphs>
  <Slides>31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Courier New</vt:lpstr>
      <vt:lpstr>Wingdings</vt:lpstr>
      <vt:lpstr>Thème Office</vt:lpstr>
      <vt:lpstr>Projet d’amélioration de l’espace numérique de travail (ENT) au sein de la Faculté de Médecine d’Antananarivo</vt:lpstr>
      <vt:lpstr>Plan</vt:lpstr>
      <vt:lpstr>1. Contexte général</vt:lpstr>
      <vt:lpstr>2. Constats et problématiques (1)</vt:lpstr>
      <vt:lpstr>2. Constats et problématiques (2)</vt:lpstr>
      <vt:lpstr>3. Conséquences pédagogiques (1)</vt:lpstr>
      <vt:lpstr>3. Conséquences pédagogiques (2)</vt:lpstr>
      <vt:lpstr>4. Vision et objectifs du projet (1)</vt:lpstr>
      <vt:lpstr>4. Vision et objectifs du projet (2)</vt:lpstr>
      <vt:lpstr>5. Solution proposée (1)</vt:lpstr>
      <vt:lpstr>5. Solution proposée (2)</vt:lpstr>
      <vt:lpstr>6. Organisation des utilisateurs</vt:lpstr>
      <vt:lpstr>7. Fonctionnalités principales (1)</vt:lpstr>
      <vt:lpstr>7. Fonctionnalités principales (2)</vt:lpstr>
      <vt:lpstr>7. Fonctionnalités principales (3)</vt:lpstr>
      <vt:lpstr>7. Fonctionnalités principales (4)</vt:lpstr>
      <vt:lpstr>8. Impact pédagogique attendu (1)</vt:lpstr>
      <vt:lpstr>8. Impact pédagogique attendu (2)</vt:lpstr>
      <vt:lpstr>8. Impact pédagogique attendu (3)</vt:lpstr>
      <vt:lpstr>9. Perspectives d’évolution (1)</vt:lpstr>
      <vt:lpstr>9. Perspectives d’évolution (2)</vt:lpstr>
      <vt:lpstr>10. Illustrations (1)</vt:lpstr>
      <vt:lpstr>10. Illustrations (2)</vt:lpstr>
      <vt:lpstr>10. Illustrations (3)</vt:lpstr>
      <vt:lpstr>11. Pourquoi une phase pilote ?</vt:lpstr>
      <vt:lpstr>12. Pourquoi vous êtes importants ?</vt:lpstr>
      <vt:lpstr>13. La réalité du projet</vt:lpstr>
      <vt:lpstr>14. Conclusion  </vt:lpstr>
      <vt:lpstr>« Investir dans les outils pédagogiques numériques, c’est investir dans la qualité de la formation médicale de demain. »</vt:lpstr>
      <vt:lpstr>Merci pour votre temps et de votre aimable attention !!!</vt:lpstr>
      <vt:lpstr>Projet d’amélioration de l’espace numérique de travail (ENT) au sein de la Faculté de Médecine d’Antananarivo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ZICO</dc:creator>
  <cp:lastModifiedBy>ZICO</cp:lastModifiedBy>
  <cp:revision>38</cp:revision>
  <dcterms:created xsi:type="dcterms:W3CDTF">2026-05-20T13:40:20Z</dcterms:created>
  <dcterms:modified xsi:type="dcterms:W3CDTF">2026-05-24T18:31:19Z</dcterms:modified>
</cp:coreProperties>
</file>