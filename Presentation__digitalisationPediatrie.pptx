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92" autoAdjust="0"/>
  </p:normalViewPr>
  <p:slideViewPr>
    <p:cSldViewPr snapToGrid="0" snapToObjects="1">
      <p:cViewPr>
        <p:scale>
          <a:sx n="49" d="100"/>
          <a:sy n="49" d="100"/>
        </p:scale>
        <p:origin x="178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C34CB-09F0-418A-86D7-7AB0AECC9407}" type="datetimeFigureOut">
              <a:rPr lang="LID4096" smtClean="0"/>
              <a:t>08/26/2026</a:t>
            </a:fld>
            <a:endParaRPr lang="LID4096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C3E92-BCF0-4702-828B-3ACAFBAF1B4D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379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s'agit actuellement d'un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L'objectif de cette présentation n'est donc pas de vous présenter un produit terminé, mais de vous présenter une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idée de transformation numérique de la documentation pédiatrique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de montrer ce qui a déjà été réalisé et surtout de discuter de la possibilité de faire évoluer ce projet vers une solution qui pourrait répondre aux besoins réels du service.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230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Sans plus tarder, on va aborder sur la première partie</a:t>
            </a:r>
          </a:p>
          <a:p>
            <a:endParaRPr lang="fr-FR" dirty="0"/>
          </a:p>
          <a:p>
            <a:r>
              <a:rPr lang="fr-FR" dirty="0"/>
              <a:t>Pourquoi la digitalisation des documents médicaux ?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3196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connait tous que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grande quantité d’information est fournit pour chaque patient dès l'admission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Pendant l'hospitalisation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Aujourd'hui, ces informations sont principalement représentées sous forme de documents.</a:t>
            </a: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Cela fonctionne, mais cela entraîne certaines limites :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répétition de la documentation, difficulté à retrouver rapidement certaines informations, fragmentation de l'information et difficulté à réutiliser cette information de manière structurée.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question que pose ce projet est donc simple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 pouvons-nous utiliser le numérique pour améliorer cette documentation sans bouleverser la pratique clinique ?</a:t>
            </a:r>
            <a:endParaRPr lang="fr-FR" sz="1200" dirty="0"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c'est là qu'intervient l'idée fondamentale du projet.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232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L'idée n'est pas simplement de prendre une feuille papier et de la reproduire sur un écran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L'idée est plutôt de considérer que derrière chaque document médical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trouve une quantité importante d'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informations cliniques structurées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Elles peuvent ensuite être retrouvées, organisées, réutilisées et éventuellement servir à produire différents documents.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passe donc progressivement de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→ document → archivage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→ données structurées → information réutilisable → document.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C'est cette transformation qui constitue le cœur du projet.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Mais pour être réellement utile, cette structure doit correspondre à la réalité de la pédiatrie.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1313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pédiatrie n'est pas simplement une médecine adulte avec des patients plus petits.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documentation clinique pédiatrique possède ses propres particularités.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contexte de grossesse et d'accouchement peut être essentiel. L'alimentation, la vaccination et le développement psychomoteur ont une place importante. La croissance doit être suivie avec des paramètres adaptés à l'enfant.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Même l'examen clinique doit tenir compte de l'âge et des spécificités pédiatriques.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C'est pourquoi le projet ne cherche pas simplement à créer un dossier médical générique auquel on ajouterait le mot « pédiatrie ».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pédiatrie est intégrée dans la structure même du système.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partir de cette idée, voici comment le projet est organisé.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dirty="0"/>
              <a:t>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2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point de départ est le patient et son observation médicale.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Lors de l'admission, nous construisons l'observation initiale : l’état civil, les antécédents, l'histoire de la maladie et l'examen clinique.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partir de cette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observation,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nous arrivons à l'évaluation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diagnostique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à la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prise en charge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Mais surtout, le dossier ne s'arrête pas à cette première observation.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patient évolue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et donc le dossier doit évoluer avec lui.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système permet donc de représenter les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évolution cliniques au cours de l'hospitalisation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et les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ajustements thérapeutiques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obtient ainsi quelque chose de différent d'un document statique.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obtient une représentation structurée de l'histoire clinique du patient pendant sa prise en charge.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à partir de ces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données structurées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le système peut ensuite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générer le document médical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correspondant.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Cette vision n'est pour l'instant qu'un prototype, mais plusieurs de ces éléments sont déjà concrètement développés.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6176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prototype permet déjà de démontrer plusieurs parties importantes de cette vision.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peut structurer les informations du patient tel que son observation médicale, de son admission, les évolutions cliniques, les ajustements de traitements, les examens paracliniques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Enfin, les informations enregistrées peuvent servir à produire un document médical.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est important de préciser que tout cela constitue encore un prototype.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Nous ne sommes donc pas en train de dire que le système est prêt à être déployé demain dans le service.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que le prototype permet de démontrer, c'est que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concept peut être concrétisé techniquement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question devient donc :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 passer d'un prototype à quelque chose qui pourrait réellement être utilisé dans un hôpit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 ?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8464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 ne propose pas de passer directement du prototype à un déploiement hospitalier.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y a plusieurs étapes nécessaires.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première est la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 clinique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système doit être confronté à ceux qui l'utilisent réellement : médecins, les internes, étudiants et autres professionnels du service.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faudra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identifier ce qui est pertinent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qui manque, ce qui doit être simplifié et surtout vérifier que la structure correspond réellement aux besoins du terrain.</a:t>
            </a: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Ensuite, le projet devra atteindre une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 minimale opérationnelle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avant d'envisager un pilote limité.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pilote permettrait ensuite d'évaluer son utilisation dans des conditions réelles, d'identifier les problèmes et de mesurer sa pertinence.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n'est qu'après cette étape qu'une éventuelle adoption institutionnelle pourrait être envisagée.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L'objectif est donc une transformation progressive, et non une rupture brutale avec le système actuel.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cette démarche est menée correctement, qu'est-ce que cela pourrait apporter à l'hôpital ?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4654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valeur du projet peut être envisagée à plusieurs niveaux.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le plan clinique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il peut contribuer à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meilleure organisation et à une meilleure continuité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l'information.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Pour les professionnels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l'objectif est de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faciliter la documentation et l'accès à l'information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tout en réduisant certaines répétitions.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Pour l’hôpital,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 principal intérêt est peut-être encore plus important :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passer progressivement d'une information essentiellement documentaire à une information clinique structurée et surtout l’utilisation d’un langage unique pour tous les professionnels.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Cela constitue une base pour une transformation numérique plus large.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cette transformation peut être progressive.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n'est pas nécessaire de digitaliser tout l'hôpital en une seule fois.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peut commencer par un besoin précis, dans un service précis, l'évaluer, l'améliorer et ensuite décider jusqu'où aller.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surtout, le projet ne cherche pas à remplacer le raisonnement ou la décision médicale.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cherche à fournir une infrastructure numérique autour de la pratique clinique.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C'est pourquoi la proposition que je souhaite soumettre aujourd'hui est volontairement progressive.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7585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Aujourd'hui, je ne demande donc pas que ce prototype soit immédiatement adopté comme système hospitalier.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 propose quelque chose de beaucoup plus réaliste.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Premièrement,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considérer ce projet comme une initiative potentielle de digitalisation de la documentation clinique pédiatrique.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Deuxièmement, permettre une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 du concept avec les professionnels du service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afin que son développement soit guidé par les besoins réels du terrain.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Troisièmement, poursuivre le développement jusqu'à une version minimale qui puisse réellement être évaluée en contexte hospitalier.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Ensuite, si cette étape est concluante, envisager un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pilote limité au sein du service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enfin, sur la base des résultats du pilote, décider s'il existe un intérêt pour une adoption institutionnelle.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Donc, ce que je présente aujourd'hui n'est pas un produit terminé.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C'est une proposition de transformation numérique, accompagnée d'un prototype qui permet déjà d'en démontrer le concept.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l'objectif est de savoir ensemble si cette idée mérite d'être développée, validée et éventuellement intégrée aux besoins futurs de l'hôpital.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Maintenant que nous avons vu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 projet existe,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 qu'il cherche à résoudre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où il pourrait aller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je vais vous montrer concrètement ce qui a déjà été réalisé.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3E92-BCF0-4702-828B-3ACAFBAF1B4D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624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666982"/>
            <a:ext cx="7498079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FFC000"/>
                </a:solidFill>
                <a:latin typeface="Arial"/>
              </a:rPr>
              <a:t>DIGITALISATION DE LA</a:t>
            </a:r>
            <a:br>
              <a:rPr dirty="0">
                <a:solidFill>
                  <a:srgbClr val="FFC000"/>
                </a:solidFill>
              </a:rPr>
            </a:br>
            <a:r>
              <a:rPr sz="3200" b="1" dirty="0">
                <a:solidFill>
                  <a:srgbClr val="FFC000"/>
                </a:solidFill>
                <a:latin typeface="Arial"/>
              </a:rPr>
              <a:t>DOCUMENTATION CLINIQUE PÉDIATRIQUE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" y="3308693"/>
            <a:ext cx="72237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dirty="0">
                <a:solidFill>
                  <a:srgbClr val="DEEDF6"/>
                </a:solidFill>
                <a:latin typeface="Arial"/>
              </a:rPr>
              <a:t>Un prototype au service de la transformation numérique du </a:t>
            </a:r>
            <a:r>
              <a:rPr sz="2400" b="0" dirty="0" err="1">
                <a:solidFill>
                  <a:srgbClr val="DEEDF6"/>
                </a:solidFill>
                <a:latin typeface="Arial"/>
              </a:rPr>
              <a:t>parcours</a:t>
            </a:r>
            <a:r>
              <a:rPr sz="2400" b="0" dirty="0">
                <a:solidFill>
                  <a:srgbClr val="DEEDF6"/>
                </a:solidFill>
                <a:latin typeface="Arial"/>
              </a:rPr>
              <a:t> de </a:t>
            </a:r>
            <a:r>
              <a:rPr sz="2400" b="0" dirty="0" err="1">
                <a:solidFill>
                  <a:srgbClr val="DEEDF6"/>
                </a:solidFill>
                <a:latin typeface="Arial"/>
              </a:rPr>
              <a:t>soins</a:t>
            </a:r>
            <a:endParaRPr sz="24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4910328"/>
            <a:ext cx="69037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Réalise par ZICO</a:t>
            </a:r>
          </a:p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IM 34453</a:t>
            </a:r>
          </a:p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Etudiant 5</a:t>
            </a:r>
            <a:r>
              <a:rPr lang="fr-FR" sz="2000" b="1" baseline="30000" dirty="0">
                <a:solidFill>
                  <a:srgbClr val="FFFFFF"/>
                </a:solidFill>
                <a:latin typeface="Arial"/>
              </a:rPr>
              <a:t>ème</a:t>
            </a:r>
            <a:r>
              <a:rPr lang="fr-FR" sz="2000" b="1" dirty="0">
                <a:solidFill>
                  <a:srgbClr val="FFFFFF"/>
                </a:solidFill>
                <a:latin typeface="Arial"/>
              </a:rPr>
              <a:t> année </a:t>
            </a:r>
          </a:p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CHUMEA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41371" y="516276"/>
            <a:ext cx="749807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Cible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530" y="1973167"/>
            <a:ext cx="7223760" cy="36710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rgbClr val="DEEDF6"/>
                </a:solidFill>
                <a:latin typeface="Arial"/>
              </a:rPr>
              <a:t>Médecins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Les internes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rgbClr val="DEEDF6"/>
                </a:solidFill>
                <a:latin typeface="Arial"/>
              </a:rPr>
              <a:t>Les étudiants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Les autres professionnels</a:t>
            </a:r>
            <a:endParaRPr lang="fr-FR" sz="2400" b="0" dirty="0">
              <a:solidFill>
                <a:srgbClr val="DEEDF6"/>
              </a:solidFill>
              <a:latin typeface="Arial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sz="24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2D30B9-5620-412D-BF65-7525E2BA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2290" y="6356350"/>
            <a:ext cx="384510" cy="365125"/>
          </a:xfrm>
        </p:spPr>
        <p:txBody>
          <a:bodyPr/>
          <a:lstStyle/>
          <a:p>
            <a:fld id="{C1FF6DA9-008F-8B48-92A6-B652298478BF}" type="slidenum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9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371" y="516276"/>
            <a:ext cx="749807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Plan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530" y="1225689"/>
            <a:ext cx="7223760" cy="5632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2400" b="0" dirty="0">
                <a:solidFill>
                  <a:srgbClr val="DEEDF6"/>
                </a:solidFill>
                <a:latin typeface="Arial"/>
              </a:rPr>
              <a:t>Deux (02) parties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Partie 01 :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Pourquoi digitaliser ?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Migration du document vers l’information clinique structurée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Application en pédiatrie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Flux du travail adopté pour le prototype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Ce que le prototype démontre déjà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Réalisation du prototype vers une solution hospitalière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Valeur apportée pour l’hôpital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Proposition finale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Partie 02 :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DEEDF6"/>
                </a:solidFill>
                <a:latin typeface="Arial"/>
              </a:rPr>
              <a:t>Démonstration réelle du prototype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sz="24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922DA8-7C7C-4904-9020-1114DEB3697C}"/>
              </a:ext>
            </a:extLst>
          </p:cNvPr>
          <p:cNvSpPr txBox="1"/>
          <p:nvPr/>
        </p:nvSpPr>
        <p:spPr>
          <a:xfrm>
            <a:off x="8364064" y="634172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LID4096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8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" y="4376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61786"/>
            <a:ext cx="7680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1.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Pourquoi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digitaliser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la documentation </a:t>
            </a:r>
            <a:r>
              <a:rPr lang="fr-FR" sz="3200" b="1" dirty="0">
                <a:solidFill>
                  <a:srgbClr val="FFC000"/>
                </a:solidFill>
                <a:latin typeface="Arial"/>
              </a:rPr>
              <a:t>médicale 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7344" y="6339654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4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514600" cy="3931406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103120"/>
            <a:ext cx="247802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4EB1B1"/>
                </a:solidFill>
                <a:latin typeface="Arial"/>
              </a:rPr>
              <a:t>01 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" y="3167366"/>
            <a:ext cx="240030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 err="1">
                <a:solidFill>
                  <a:srgbClr val="FFFFFF"/>
                </a:solidFill>
                <a:latin typeface="Arial"/>
              </a:rPr>
              <a:t>L’information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est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produite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à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l’admission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, pendant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l’hospitalisation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et au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suivi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965959"/>
            <a:ext cx="2514600" cy="3931405"/>
          </a:xfrm>
          <a:prstGeom prst="roundRect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18541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DEBE68"/>
                </a:solidFill>
                <a:latin typeface="Arial"/>
              </a:rPr>
              <a:t>02 </a:t>
            </a:r>
            <a:endParaRPr lang="fr-FR" sz="2000" b="1" dirty="0">
              <a:solidFill>
                <a:srgbClr val="DEBE68"/>
              </a:solidFill>
              <a:latin typeface="Arial"/>
            </a:endParaRPr>
          </a:p>
          <a:p>
            <a:pPr algn="ctr"/>
            <a:r>
              <a:rPr lang="fr-FR" sz="2000" b="1" dirty="0">
                <a:solidFill>
                  <a:srgbClr val="DEBE68"/>
                </a:solidFill>
                <a:latin typeface="Arial"/>
              </a:rPr>
              <a:t> LIMITES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9344"/>
            <a:ext cx="2185416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 err="1">
                <a:solidFill>
                  <a:srgbClr val="FFFFFF"/>
                </a:solidFill>
                <a:latin typeface="Arial"/>
              </a:rPr>
              <a:t>Répétition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de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l’écriture</a:t>
            </a:r>
            <a:br>
              <a:rPr dirty="0"/>
            </a:br>
            <a:br>
              <a:rPr dirty="0"/>
            </a:br>
            <a:r>
              <a:rPr sz="2400" b="0" dirty="0">
                <a:solidFill>
                  <a:srgbClr val="FFFFFF"/>
                </a:solidFill>
                <a:latin typeface="Arial"/>
              </a:rPr>
              <a:t>Recherche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d’informations</a:t>
            </a:r>
            <a:br>
              <a:rPr dirty="0"/>
            </a:br>
            <a:br>
              <a:rPr dirty="0"/>
            </a:br>
            <a:r>
              <a:rPr sz="2400" b="0" dirty="0">
                <a:solidFill>
                  <a:srgbClr val="FFFFFF"/>
                </a:solidFill>
                <a:latin typeface="Arial"/>
              </a:rPr>
              <a:t>Fragmentation des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données</a:t>
            </a:r>
            <a:endParaRPr sz="24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17336" y="1965960"/>
            <a:ext cx="2514600" cy="3931404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2103120"/>
            <a:ext cx="218541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EB1B1"/>
                </a:solidFill>
                <a:latin typeface="Arial"/>
              </a:rPr>
              <a:t>03  OPPORTUNITÉ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122418"/>
            <a:ext cx="2185416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FFFFFF"/>
                </a:solidFill>
                <a:latin typeface="Arial"/>
              </a:rPr>
              <a:t>Structurer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l’information</a:t>
            </a:r>
            <a:br>
              <a:rPr dirty="0"/>
            </a:br>
            <a:br>
              <a:rPr dirty="0"/>
            </a:br>
            <a:r>
              <a:rPr sz="2400" b="0" dirty="0">
                <a:solidFill>
                  <a:srgbClr val="FFFFFF"/>
                </a:solidFill>
                <a:latin typeface="Arial"/>
              </a:rPr>
              <a:t>La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rendre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accessible</a:t>
            </a:r>
            <a:br>
              <a:rPr dirty="0"/>
            </a:br>
            <a:br>
              <a:rPr dirty="0"/>
            </a:br>
            <a:r>
              <a:rPr sz="2400" b="0" dirty="0">
                <a:solidFill>
                  <a:srgbClr val="FFFFFF"/>
                </a:solidFill>
                <a:latin typeface="Arial"/>
              </a:rPr>
              <a:t>La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réutiliser</a:t>
            </a:r>
            <a:endParaRPr sz="24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680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2. Migration d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u document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vers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l’information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clinique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structurée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58232" y="6364441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5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4EB1B1"/>
                </a:solidFill>
                <a:latin typeface="Arial"/>
              </a:rPr>
              <a:t>LE CHANGEMENT DE LOGIQUE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55" y="1844405"/>
            <a:ext cx="2788920" cy="4235008"/>
          </a:xfrm>
          <a:prstGeom prst="roundRect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EBE68"/>
                </a:solidFill>
                <a:latin typeface="Arial"/>
              </a:rPr>
              <a:t>AUJOURD’HUI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97479"/>
            <a:ext cx="2057400" cy="891541"/>
          </a:xfrm>
          <a:prstGeom prst="roundRect">
            <a:avLst/>
          </a:prstGeom>
          <a:solidFill>
            <a:srgbClr val="234E6F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7706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Information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clinique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7430" y="374446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EBE68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29101"/>
            <a:ext cx="2057400" cy="502920"/>
          </a:xfrm>
          <a:prstGeom prst="roundRect">
            <a:avLst/>
          </a:prstGeom>
          <a:solidFill>
            <a:srgbClr val="234E6F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2856" y="426778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7430" y="4835442"/>
            <a:ext cx="18287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EBE68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406" y="5280660"/>
            <a:ext cx="2057400" cy="502920"/>
          </a:xfrm>
          <a:prstGeom prst="roundRect">
            <a:avLst/>
          </a:prstGeom>
          <a:solidFill>
            <a:srgbClr val="234E6F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" y="532555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rial"/>
              </a:rPr>
              <a:t>Archivage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17068" y="2005207"/>
            <a:ext cx="2788920" cy="423500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20574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4EB1B1"/>
                </a:solidFill>
                <a:latin typeface="Arial"/>
              </a:rPr>
              <a:t>AVEC LE PROJET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770632"/>
            <a:ext cx="2057400" cy="658367"/>
          </a:xfrm>
          <a:prstGeom prst="roundRect">
            <a:avLst/>
          </a:prstGeom>
          <a:solidFill>
            <a:srgbClr val="234E6F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561" y="270670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rial"/>
              </a:rPr>
              <a:t>Données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structurées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0381" y="342900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5981" y="3799300"/>
            <a:ext cx="2057400" cy="820494"/>
          </a:xfrm>
          <a:prstGeom prst="roundRect">
            <a:avLst/>
          </a:prstGeom>
          <a:solidFill>
            <a:srgbClr val="234E6F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3348" y="3894111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Information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réutilisable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30381" y="460148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6188" y="5019843"/>
            <a:ext cx="2057400" cy="817992"/>
          </a:xfrm>
          <a:prstGeom prst="roundRect">
            <a:avLst/>
          </a:prstGeom>
          <a:solidFill>
            <a:srgbClr val="234E6F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4768" y="506349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Document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médical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21EDC7F0-4978-4EF1-B9CB-7506E21F382D}"/>
              </a:ext>
            </a:extLst>
          </p:cNvPr>
          <p:cNvSpPr/>
          <p:nvPr/>
        </p:nvSpPr>
        <p:spPr>
          <a:xfrm>
            <a:off x="3623830" y="3686972"/>
            <a:ext cx="1861883" cy="871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2060"/>
            <a:ext cx="76809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3. Application en pédiatrie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49055" y="6400186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6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3314700" y="3420032"/>
            <a:ext cx="2514600" cy="1598497"/>
          </a:xfrm>
          <a:prstGeom prst="ellipse">
            <a:avLst/>
          </a:prstGeom>
          <a:solidFill>
            <a:srgbClr val="234E6F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3808116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DOSSIER</a:t>
            </a:r>
            <a:br>
              <a:rPr sz="2000" dirty="0"/>
            </a:br>
            <a:r>
              <a:rPr sz="2000" b="1" dirty="0">
                <a:solidFill>
                  <a:srgbClr val="FFFFFF"/>
                </a:solidFill>
                <a:latin typeface="Arial"/>
              </a:rPr>
              <a:t>PÉDIATRIQUE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8" y="1860854"/>
            <a:ext cx="2148841" cy="1036457"/>
          </a:xfrm>
          <a:prstGeom prst="roundRect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1" y="2050929"/>
            <a:ext cx="20574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rial"/>
              </a:rPr>
              <a:t>Grossesse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&amp;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Arial"/>
              </a:rPr>
              <a:t>accouchement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777" y="1894912"/>
            <a:ext cx="2251582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6929" y="2021029"/>
            <a:ext cx="217843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rial"/>
              </a:rPr>
              <a:t>Développement</a:t>
            </a:r>
            <a:br>
              <a:rPr dirty="0"/>
            </a:br>
            <a:r>
              <a:rPr sz="2000" b="1" dirty="0" err="1">
                <a:solidFill>
                  <a:srgbClr val="FFFFFF"/>
                </a:solidFill>
                <a:latin typeface="Arial"/>
              </a:rPr>
              <a:t>psychomoteur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19" y="5240335"/>
            <a:ext cx="2178430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2" y="5436931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rial"/>
              </a:rPr>
              <a:t>Croissance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Arial"/>
              </a:rPr>
              <a:t>&amp;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biométrie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16930" y="5196776"/>
            <a:ext cx="2251582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7416" y="5364855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Examen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clinique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Arial"/>
              </a:rPr>
              <a:t>par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appareil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AFA40725-94A6-4838-B95C-FB08F2396943}"/>
              </a:ext>
            </a:extLst>
          </p:cNvPr>
          <p:cNvSpPr/>
          <p:nvPr/>
        </p:nvSpPr>
        <p:spPr>
          <a:xfrm>
            <a:off x="6380353" y="3586708"/>
            <a:ext cx="2251582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27B29F6D-9319-4501-830C-BB41A538BB79}"/>
              </a:ext>
            </a:extLst>
          </p:cNvPr>
          <p:cNvSpPr/>
          <p:nvPr/>
        </p:nvSpPr>
        <p:spPr>
          <a:xfrm>
            <a:off x="502918" y="3588763"/>
            <a:ext cx="2148841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2E56C779-44C6-4699-909D-79792C38F75A}"/>
              </a:ext>
            </a:extLst>
          </p:cNvPr>
          <p:cNvSpPr txBox="1"/>
          <p:nvPr/>
        </p:nvSpPr>
        <p:spPr>
          <a:xfrm>
            <a:off x="6371210" y="3819171"/>
            <a:ext cx="21784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Alimentation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FB69B1C1-429A-4A0C-BA7A-3DA60A519527}"/>
              </a:ext>
            </a:extLst>
          </p:cNvPr>
          <p:cNvSpPr txBox="1"/>
          <p:nvPr/>
        </p:nvSpPr>
        <p:spPr>
          <a:xfrm>
            <a:off x="512321" y="3819171"/>
            <a:ext cx="21784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2000" b="1" dirty="0">
                <a:solidFill>
                  <a:srgbClr val="FFFFFF"/>
                </a:solidFill>
                <a:latin typeface="Arial"/>
              </a:rPr>
              <a:t>Statut vaccinal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1A7A7BF-8CEF-4908-AAE2-56241348553F}"/>
              </a:ext>
            </a:extLst>
          </p:cNvPr>
          <p:cNvCxnSpPr/>
          <p:nvPr/>
        </p:nvCxnSpPr>
        <p:spPr>
          <a:xfrm flipV="1">
            <a:off x="4787757" y="2374972"/>
            <a:ext cx="1441592" cy="7997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E1E91E7-594E-4324-B618-28C1E2B44525}"/>
              </a:ext>
            </a:extLst>
          </p:cNvPr>
          <p:cNvCxnSpPr/>
          <p:nvPr/>
        </p:nvCxnSpPr>
        <p:spPr>
          <a:xfrm flipH="1" flipV="1">
            <a:off x="2788919" y="2404872"/>
            <a:ext cx="1413211" cy="769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01EE243-CD9F-467E-A022-4DBE99EB145D}"/>
              </a:ext>
            </a:extLst>
          </p:cNvPr>
          <p:cNvCxnSpPr/>
          <p:nvPr/>
        </p:nvCxnSpPr>
        <p:spPr>
          <a:xfrm flipH="1">
            <a:off x="2690751" y="4173876"/>
            <a:ext cx="4736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E8FB3336-9095-4694-BEFC-E2F2DA487283}"/>
              </a:ext>
            </a:extLst>
          </p:cNvPr>
          <p:cNvCxnSpPr/>
          <p:nvPr/>
        </p:nvCxnSpPr>
        <p:spPr>
          <a:xfrm>
            <a:off x="5938463" y="4173876"/>
            <a:ext cx="405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A59DD122-325C-42C6-A81D-4D9A82940900}"/>
              </a:ext>
            </a:extLst>
          </p:cNvPr>
          <p:cNvCxnSpPr/>
          <p:nvPr/>
        </p:nvCxnSpPr>
        <p:spPr>
          <a:xfrm flipH="1">
            <a:off x="2788919" y="5095982"/>
            <a:ext cx="1228277" cy="624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18EA9F9-0738-42BA-83FA-710E68967F29}"/>
              </a:ext>
            </a:extLst>
          </p:cNvPr>
          <p:cNvCxnSpPr/>
          <p:nvPr/>
        </p:nvCxnSpPr>
        <p:spPr>
          <a:xfrm>
            <a:off x="4890499" y="5173038"/>
            <a:ext cx="1451123" cy="564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2334"/>
            <a:ext cx="7680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4. Le flux du travail adopté pour le prototype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49640" y="6344150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7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2971800"/>
            <a:ext cx="7360920" cy="54864"/>
          </a:xfrm>
          <a:prstGeom prst="rect">
            <a:avLst/>
          </a:prstGeom>
          <a:solidFill>
            <a:srgbClr val="B1C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2606040"/>
            <a:ext cx="731520" cy="731520"/>
          </a:xfrm>
          <a:prstGeom prst="ellipse">
            <a:avLst/>
          </a:prstGeom>
          <a:solidFill>
            <a:srgbClr val="4EB1B1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35204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EEDF6"/>
                </a:solidFill>
                <a:latin typeface="Arial"/>
              </a:rPr>
              <a:t>Entrée</a:t>
            </a:r>
          </a:p>
        </p:txBody>
      </p:sp>
      <p:sp>
        <p:nvSpPr>
          <p:cNvPr id="12" name="Oval 11"/>
          <p:cNvSpPr/>
          <p:nvPr/>
        </p:nvSpPr>
        <p:spPr>
          <a:xfrm>
            <a:off x="1874519" y="2606040"/>
            <a:ext cx="731520" cy="73152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58" y="1897090"/>
            <a:ext cx="146304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  <a:latin typeface="Arial"/>
              </a:rPr>
              <a:t>ANAMNESE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199" y="3520440"/>
            <a:ext cx="12801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DEEDF6"/>
                </a:solidFill>
                <a:latin typeface="Arial"/>
              </a:rPr>
              <a:t>Histoire</a:t>
            </a:r>
            <a:r>
              <a:rPr lang="fr-FR" sz="1600" b="0" dirty="0">
                <a:solidFill>
                  <a:srgbClr val="DEEDF6"/>
                </a:solidFill>
                <a:latin typeface="Arial"/>
              </a:rPr>
              <a:t> et antécédent</a:t>
            </a:r>
            <a:endParaRPr sz="16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108960" y="2606040"/>
            <a:ext cx="731520" cy="73152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87451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EXAMEN</a:t>
            </a:r>
          </a:p>
        </p:txBody>
      </p:sp>
      <p:sp>
        <p:nvSpPr>
          <p:cNvPr id="20" name="Oval 19"/>
          <p:cNvSpPr/>
          <p:nvPr/>
        </p:nvSpPr>
        <p:spPr>
          <a:xfrm>
            <a:off x="4343400" y="2606040"/>
            <a:ext cx="731520" cy="73152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874519"/>
            <a:ext cx="1186665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DIAGNO</a:t>
            </a:r>
            <a:r>
              <a:rPr lang="fr-FR" sz="1600" b="1" dirty="0">
                <a:solidFill>
                  <a:srgbClr val="FFFFFF"/>
                </a:solidFill>
                <a:latin typeface="Arial"/>
              </a:rPr>
              <a:t>-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STIC</a:t>
            </a:r>
          </a:p>
        </p:txBody>
      </p:sp>
      <p:sp>
        <p:nvSpPr>
          <p:cNvPr id="24" name="Oval 23"/>
          <p:cNvSpPr/>
          <p:nvPr/>
        </p:nvSpPr>
        <p:spPr>
          <a:xfrm>
            <a:off x="5577840" y="2606040"/>
            <a:ext cx="731520" cy="73152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874519"/>
            <a:ext cx="1188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TRAITE</a:t>
            </a:r>
            <a:r>
              <a:rPr lang="fr-FR" sz="1600" b="1" dirty="0">
                <a:solidFill>
                  <a:srgbClr val="FFFFFF"/>
                </a:solidFill>
                <a:latin typeface="Arial"/>
              </a:rPr>
              <a:t>-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5204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EEDF6"/>
                </a:solidFill>
                <a:latin typeface="Arial"/>
              </a:rPr>
              <a:t>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2606040"/>
            <a:ext cx="731520" cy="731520"/>
          </a:xfrm>
          <a:prstGeom prst="ellipse">
            <a:avLst/>
          </a:prstGeom>
          <a:solidFill>
            <a:srgbClr val="4EB1B1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7451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SUIVI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5204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EEDF6"/>
                </a:solidFill>
                <a:latin typeface="Arial"/>
              </a:rPr>
              <a:t>Évolution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606040"/>
            <a:ext cx="731520" cy="731520"/>
          </a:xfrm>
          <a:prstGeom prst="ellipse">
            <a:avLst/>
          </a:prstGeom>
          <a:solidFill>
            <a:srgbClr val="4EB1B1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01000" y="280720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1874519"/>
            <a:ext cx="14173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DOCUMENT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5204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EEDF6"/>
                </a:solidFill>
                <a:latin typeface="Arial"/>
              </a:rPr>
              <a:t>Synthèse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6809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5. 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Ce que le prototype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démontre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déjà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84058" y="6360935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8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57600" cy="1088136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EB1B1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9324" y="1431807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Patient &amp; admission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25880"/>
            <a:ext cx="3657600" cy="1130824"/>
          </a:xfrm>
          <a:prstGeom prst="roundRect">
            <a:avLst/>
          </a:prstGeom>
          <a:solidFill>
            <a:srgbClr val="1B4060"/>
          </a:solidFill>
          <a:ln>
            <a:solidFill>
              <a:srgbClr val="DE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2" y="1572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EEDF6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4087" y="1401703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Antécédents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&amp;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histoire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" y="3248175"/>
            <a:ext cx="3657600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" y="34975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456406"/>
            <a:ext cx="29077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Examen </a:t>
            </a:r>
            <a:r>
              <a:rPr lang="fr-FR" sz="2400" b="1" dirty="0">
                <a:solidFill>
                  <a:srgbClr val="FFFFFF"/>
                </a:solidFill>
                <a:latin typeface="Arial"/>
              </a:rPr>
              <a:t>physique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63440" y="3274322"/>
            <a:ext cx="3611880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DE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358216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EEDF6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4087" y="3333912"/>
            <a:ext cx="26974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Évolution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&amp;</a:t>
            </a:r>
            <a:r>
              <a:rPr lang="fr-FR" sz="2400" b="1" dirty="0">
                <a:solidFill>
                  <a:srgbClr val="FFFFFF"/>
                </a:solidFill>
                <a:latin typeface="Arial"/>
              </a:rPr>
              <a:t> bilans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5052060"/>
            <a:ext cx="3657600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25" y="5330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25212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/>
              </a:rPr>
              <a:t>Traitements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&amp;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ajustements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26112" y="5052060"/>
            <a:ext cx="3503488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DE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5330233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EEDF6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066187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rial"/>
              </a:rPr>
              <a:t>Document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médical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680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6. Réalisation d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u prototype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vers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une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solution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hospitalière</a:t>
            </a:r>
            <a:endParaRPr sz="32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33611" y="6366852"/>
            <a:ext cx="365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9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553" y="1410722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4EB1B1"/>
                </a:solidFill>
                <a:latin typeface="Arial"/>
              </a:rPr>
              <a:t>UNE ADOPTION PROGRESSIVE, AVEC VALIDATION À CHAQUE ÉTAPE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79" y="1936240"/>
            <a:ext cx="2050439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579" y="2270827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9383" y="2042242"/>
            <a:ext cx="169876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9790" y="231165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DEEDF6"/>
                </a:solidFill>
                <a:latin typeface="Arial"/>
              </a:rPr>
              <a:t>Démontrer</a:t>
            </a:r>
            <a:endParaRPr sz="14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42564" y="1929350"/>
            <a:ext cx="2214352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6409" y="22061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905" y="2007257"/>
            <a:ext cx="147823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264" y="23616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DEEDF6"/>
                </a:solidFill>
                <a:latin typeface="Arial"/>
              </a:rPr>
              <a:t>Confronter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6881" y="3335550"/>
            <a:ext cx="2243016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9810" y="3682875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57395"/>
            <a:ext cx="16656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VERSION MINIMALE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7700" y="3889226"/>
            <a:ext cx="170219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DEEDF6"/>
                </a:solidFill>
                <a:latin typeface="Arial"/>
              </a:rPr>
              <a:t>Rendre</a:t>
            </a:r>
            <a:r>
              <a:rPr sz="1400" b="0" dirty="0">
                <a:solidFill>
                  <a:srgbClr val="DEEDF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DEEDF6"/>
                </a:solidFill>
                <a:latin typeface="Arial"/>
              </a:rPr>
              <a:t>utilisable</a:t>
            </a:r>
            <a:endParaRPr sz="1400" b="0" dirty="0">
              <a:solidFill>
                <a:srgbClr val="DEEDF6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7280" y="4765404"/>
            <a:ext cx="2062234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1872" y="50062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8158" y="4804830"/>
            <a:ext cx="1267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PILOTE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9790" y="518948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DEEDF6"/>
                </a:solidFill>
                <a:latin typeface="Arial"/>
              </a:rPr>
              <a:t>Tester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7034" y="4740346"/>
            <a:ext cx="2214352" cy="960120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53151" y="504318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4EB1B1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3191" y="4850934"/>
            <a:ext cx="143072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ADOPTION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9838" y="5138351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DEEDF6"/>
                </a:solidFill>
                <a:latin typeface="Arial"/>
              </a:rPr>
              <a:t>Évaluer</a:t>
            </a:r>
            <a:r>
              <a:rPr sz="1400" b="0" dirty="0">
                <a:solidFill>
                  <a:srgbClr val="DEEDF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DEEDF6"/>
                </a:solidFill>
                <a:latin typeface="Arial"/>
              </a:rPr>
              <a:t>puis</a:t>
            </a:r>
            <a:r>
              <a:rPr sz="1400" b="0" dirty="0">
                <a:solidFill>
                  <a:srgbClr val="DEEDF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DEEDF6"/>
                </a:solidFill>
                <a:latin typeface="Arial"/>
              </a:rPr>
              <a:t>décider</a:t>
            </a:r>
            <a:endParaRPr sz="1400" b="0" dirty="0">
              <a:solidFill>
                <a:srgbClr val="DEEDF6"/>
              </a:solidFill>
              <a:latin typeface="Arial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4461D82-60A0-4A8D-B78B-8DABAA9B1EE8}"/>
              </a:ext>
            </a:extLst>
          </p:cNvPr>
          <p:cNvCxnSpPr/>
          <p:nvPr/>
        </p:nvCxnSpPr>
        <p:spPr>
          <a:xfrm>
            <a:off x="3256908" y="2380796"/>
            <a:ext cx="2835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8E0A6B7E-7017-48AE-8357-74E3CB9B5763}"/>
              </a:ext>
            </a:extLst>
          </p:cNvPr>
          <p:cNvCxnSpPr/>
          <p:nvPr/>
        </p:nvCxnSpPr>
        <p:spPr>
          <a:xfrm flipH="1">
            <a:off x="6092575" y="3051425"/>
            <a:ext cx="1357165" cy="7641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B101D79-9248-4714-8591-11BAB8CAB5B5}"/>
              </a:ext>
            </a:extLst>
          </p:cNvPr>
          <p:cNvCxnSpPr/>
          <p:nvPr/>
        </p:nvCxnSpPr>
        <p:spPr>
          <a:xfrm flipH="1">
            <a:off x="1993187" y="3889226"/>
            <a:ext cx="1489752" cy="703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D3DDD1-0C1F-4945-B496-674B9AE41F3D}"/>
              </a:ext>
            </a:extLst>
          </p:cNvPr>
          <p:cNvCxnSpPr/>
          <p:nvPr/>
        </p:nvCxnSpPr>
        <p:spPr>
          <a:xfrm>
            <a:off x="3390472" y="5257223"/>
            <a:ext cx="2702103" cy="9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6809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7. 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Quelle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valeur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pour </a:t>
            </a:r>
            <a:r>
              <a:rPr sz="3200" b="1" dirty="0" err="1">
                <a:solidFill>
                  <a:srgbClr val="FFC000"/>
                </a:solidFill>
                <a:latin typeface="Arial"/>
              </a:rPr>
              <a:t>l’hôpital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6334017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latin typeface="Arial"/>
              </a:rPr>
              <a:t>10</a:t>
            </a:r>
            <a:endParaRPr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EB1B1"/>
                </a:solidFill>
                <a:latin typeface="Arial"/>
              </a:rPr>
              <a:t>UNE VALEUR QUI DÉPASSE LE SIMPLE REMPLACEMENT DU PAPIER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28800"/>
            <a:ext cx="1463040" cy="146304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2801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600" b="1" dirty="0">
                <a:solidFill>
                  <a:srgbClr val="4EB1B1"/>
                </a:solidFill>
                <a:latin typeface="Arial"/>
              </a:rPr>
              <a:t>Pratique clinique</a:t>
            </a:r>
            <a:endParaRPr sz="1600" b="1" dirty="0">
              <a:solidFill>
                <a:srgbClr val="4EB1B1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Continuité</a:t>
            </a:r>
            <a:br>
              <a:rPr dirty="0"/>
            </a:br>
            <a:r>
              <a:rPr sz="1800" b="1" dirty="0" err="1">
                <a:solidFill>
                  <a:srgbClr val="FFFFFF"/>
                </a:solidFill>
                <a:latin typeface="Arial"/>
              </a:rPr>
              <a:t>Traçabilité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788920" y="1828800"/>
            <a:ext cx="1463040" cy="1463040"/>
          </a:xfrm>
          <a:prstGeom prst="ellipse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359152"/>
            <a:ext cx="161972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600" b="1" dirty="0">
                <a:solidFill>
                  <a:srgbClr val="DEBE68"/>
                </a:solidFill>
                <a:latin typeface="Arial"/>
              </a:rPr>
              <a:t>Professionnel</a:t>
            </a:r>
            <a:endParaRPr sz="1600" b="1" dirty="0">
              <a:solidFill>
                <a:srgbClr val="DEBE68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3488543"/>
            <a:ext cx="192024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Accès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facilité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rial"/>
              </a:rPr>
              <a:t>Documentation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structurée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92040" y="1828800"/>
            <a:ext cx="1463040" cy="1463040"/>
          </a:xfrm>
          <a:prstGeom prst="ellipse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7281" y="2382125"/>
            <a:ext cx="1280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600" b="1" dirty="0">
                <a:solidFill>
                  <a:srgbClr val="4EB1B1"/>
                </a:solidFill>
                <a:latin typeface="Arial"/>
              </a:rPr>
              <a:t>Hôpital</a:t>
            </a:r>
            <a:endParaRPr sz="1600" b="1" dirty="0">
              <a:solidFill>
                <a:srgbClr val="4EB1B1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493008"/>
            <a:ext cx="192024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Standardisation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rial"/>
              </a:rPr>
              <a:t>Information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réutilisable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995160" y="1828800"/>
            <a:ext cx="1463040" cy="1463040"/>
          </a:xfrm>
          <a:prstGeom prst="ellipse">
            <a:avLst/>
          </a:prstGeom>
          <a:solidFill>
            <a:srgbClr val="1B4060"/>
          </a:solidFill>
          <a:ln>
            <a:solidFill>
              <a:srgbClr val="DEB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382125"/>
            <a:ext cx="1737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1600" b="1" dirty="0">
                <a:solidFill>
                  <a:srgbClr val="DEBE68"/>
                </a:solidFill>
                <a:latin typeface="Arial"/>
              </a:rPr>
              <a:t>Transformation</a:t>
            </a:r>
            <a:endParaRPr sz="1600" b="1" dirty="0">
              <a:solidFill>
                <a:srgbClr val="DEBE68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493008"/>
            <a:ext cx="173736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rial"/>
              </a:rPr>
              <a:t>Base pour de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futur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rial"/>
              </a:rPr>
              <a:t>service numérique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6494"/>
            <a:ext cx="7772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rial"/>
              </a:rPr>
              <a:t>Le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projet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ne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remplace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pas la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décision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médicale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423" y="5596128"/>
            <a:ext cx="7772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dirty="0">
                <a:solidFill>
                  <a:srgbClr val="DEEDF6"/>
                </a:solidFill>
                <a:latin typeface="Arial"/>
              </a:rPr>
              <a:t>Il </a:t>
            </a:r>
            <a:r>
              <a:rPr sz="2200" b="0" dirty="0" err="1">
                <a:solidFill>
                  <a:srgbClr val="DEEDF6"/>
                </a:solidFill>
                <a:latin typeface="Arial"/>
              </a:rPr>
              <a:t>fournit</a:t>
            </a:r>
            <a:r>
              <a:rPr sz="2200" b="0" dirty="0">
                <a:solidFill>
                  <a:srgbClr val="DEEDF6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DEEDF6"/>
                </a:solidFill>
                <a:latin typeface="Arial"/>
              </a:rPr>
              <a:t>une</a:t>
            </a:r>
            <a:r>
              <a:rPr sz="2200" b="0" dirty="0">
                <a:solidFill>
                  <a:srgbClr val="DEEDF6"/>
                </a:solidFill>
                <a:latin typeface="Arial"/>
              </a:rPr>
              <a:t> infrastructure numérique </a:t>
            </a:r>
            <a:r>
              <a:rPr sz="2200" b="0" dirty="0" err="1">
                <a:solidFill>
                  <a:srgbClr val="DEEDF6"/>
                </a:solidFill>
                <a:latin typeface="Arial"/>
              </a:rPr>
              <a:t>autour</a:t>
            </a:r>
            <a:r>
              <a:rPr sz="2200" b="0" dirty="0">
                <a:solidFill>
                  <a:srgbClr val="DEEDF6"/>
                </a:solidFill>
                <a:latin typeface="Arial"/>
              </a:rPr>
              <a:t> de la pratique </a:t>
            </a:r>
            <a:r>
              <a:rPr sz="2200" b="0" dirty="0" err="1">
                <a:solidFill>
                  <a:srgbClr val="DEEDF6"/>
                </a:solidFill>
                <a:latin typeface="Arial"/>
              </a:rPr>
              <a:t>clinique</a:t>
            </a:r>
            <a:r>
              <a:rPr sz="2200" b="0" dirty="0">
                <a:solidFill>
                  <a:srgbClr val="DEEDF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48" y="-10274"/>
            <a:ext cx="9144000" cy="6858000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9552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Arial"/>
              </a:rPr>
              <a:t>8. </a:t>
            </a:r>
            <a:r>
              <a:rPr sz="3200" b="1" dirty="0">
                <a:solidFill>
                  <a:srgbClr val="FFC000"/>
                </a:solidFill>
                <a:latin typeface="Arial"/>
              </a:rPr>
              <a:t>NOTRE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7315200" cy="56692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5743" y="1794897"/>
            <a:ext cx="2136819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4EB1B1"/>
                </a:solidFill>
                <a:latin typeface="Arial"/>
              </a:rPr>
              <a:t>RECONNAÎTRE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8021" y="1795320"/>
            <a:ext cx="448877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Arial"/>
              </a:rPr>
              <a:t>Le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potentiel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du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projet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399" y="2441448"/>
            <a:ext cx="7315199" cy="56692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1" y="257403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4EB1B1"/>
                </a:solidFill>
                <a:latin typeface="Arial"/>
              </a:rPr>
              <a:t>VALIDER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0613" y="2524725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Arial"/>
              </a:rPr>
              <a:t>Le concept avec les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professionnels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399" y="3191256"/>
            <a:ext cx="7315199" cy="56692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6252" y="3272990"/>
            <a:ext cx="1919007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4EB1B1"/>
                </a:solidFill>
                <a:latin typeface="Arial"/>
              </a:rPr>
              <a:t>DÉVELOPPER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0613" y="3218688"/>
            <a:ext cx="417439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Arial"/>
              </a:rPr>
              <a:t>Une version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minimale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opérationnelle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399" y="3941064"/>
            <a:ext cx="7315201" cy="56692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3514" y="403250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4EB1B1"/>
                </a:solidFill>
                <a:latin typeface="Arial"/>
              </a:rPr>
              <a:t>PILOTER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8021" y="3955242"/>
            <a:ext cx="304115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FFFFF"/>
                </a:solidFill>
                <a:latin typeface="Arial"/>
              </a:rPr>
              <a:t>Dans un </a:t>
            </a:r>
            <a:r>
              <a:rPr b="0" dirty="0" err="1">
                <a:solidFill>
                  <a:srgbClr val="FFFFFF"/>
                </a:solidFill>
                <a:latin typeface="Arial"/>
              </a:rPr>
              <a:t>périmètre</a:t>
            </a:r>
            <a:r>
              <a:rPr b="0" dirty="0">
                <a:solidFill>
                  <a:srgbClr val="FFFFFF"/>
                </a:solidFill>
                <a:latin typeface="Arial"/>
              </a:rPr>
              <a:t> </a:t>
            </a:r>
            <a:r>
              <a:rPr b="0" dirty="0" err="1">
                <a:solidFill>
                  <a:srgbClr val="FFFFFF"/>
                </a:solidFill>
                <a:latin typeface="Arial"/>
              </a:rPr>
              <a:t>limité</a:t>
            </a:r>
            <a:endParaRPr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690872"/>
            <a:ext cx="7263830" cy="566928"/>
          </a:xfrm>
          <a:prstGeom prst="roundRect">
            <a:avLst/>
          </a:prstGeom>
          <a:solidFill>
            <a:srgbClr val="1B4060"/>
          </a:solidFill>
          <a:ln>
            <a:solidFill>
              <a:srgbClr val="4EB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3514" y="48051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4EB1B1"/>
                </a:solidFill>
                <a:latin typeface="Arial"/>
              </a:rPr>
              <a:t>ÉVALUER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847" y="4752825"/>
            <a:ext cx="501995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Arial"/>
              </a:rPr>
              <a:t>Avant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toute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adoption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institutionnelle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EBE68"/>
                </a:solidFill>
                <a:latin typeface="Arial"/>
              </a:rPr>
              <a:t>OBJECTIF À TERME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504688"/>
            <a:ext cx="5989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un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pilote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pédiatrique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évalué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avant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toute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décision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d’adoption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8A55DDD-3032-44A4-A0CE-628EB3A70473}"/>
              </a:ext>
            </a:extLst>
          </p:cNvPr>
          <p:cNvSpPr txBox="1"/>
          <p:nvPr/>
        </p:nvSpPr>
        <p:spPr>
          <a:xfrm>
            <a:off x="8412480" y="6307868"/>
            <a:ext cx="688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LID4096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1676</Words>
  <Application>Microsoft Office PowerPoint</Application>
  <PresentationFormat>Affichage à l'écran (4:3)</PresentationFormat>
  <Paragraphs>243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ZICO</cp:lastModifiedBy>
  <cp:revision>50</cp:revision>
  <dcterms:created xsi:type="dcterms:W3CDTF">2013-01-27T09:14:16Z</dcterms:created>
  <dcterms:modified xsi:type="dcterms:W3CDTF">2026-08-27T12:43:58Z</dcterms:modified>
  <cp:category/>
</cp:coreProperties>
</file>