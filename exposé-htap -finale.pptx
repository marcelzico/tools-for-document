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7" r:id="rId6"/>
    <p:sldId id="285" r:id="rId7"/>
    <p:sldId id="262" r:id="rId8"/>
    <p:sldId id="297" r:id="rId9"/>
    <p:sldId id="264" r:id="rId10"/>
    <p:sldId id="270" r:id="rId11"/>
    <p:sldId id="275" r:id="rId12"/>
    <p:sldId id="271" r:id="rId13"/>
    <p:sldId id="265" r:id="rId14"/>
    <p:sldId id="294" r:id="rId15"/>
    <p:sldId id="292" r:id="rId16"/>
    <p:sldId id="293" r:id="rId17"/>
    <p:sldId id="298" r:id="rId18"/>
    <p:sldId id="268" r:id="rId19"/>
    <p:sldId id="287" r:id="rId20"/>
    <p:sldId id="288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79" autoAdjust="0"/>
  </p:normalViewPr>
  <p:slideViewPr>
    <p:cSldViewPr snapToGrid="0">
      <p:cViewPr>
        <p:scale>
          <a:sx n="72" d="100"/>
          <a:sy n="72" d="100"/>
        </p:scale>
        <p:origin x="1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7870B-2982-4841-AEDF-540FC35BDE49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7C33A-C9D8-4985-9E06-E89DB417BD5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344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336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Ancien seuil ≥ 25 mmHg</a:t>
            </a:r>
          </a:p>
          <a:p>
            <a:r>
              <a:rPr lang="fr-FR" dirty="0"/>
              <a:t>Modifié en 2018 et confirmé en 2022 </a:t>
            </a:r>
          </a:p>
          <a:p>
            <a:r>
              <a:rPr lang="fr-FR" dirty="0"/>
              <a:t>Basé sur  valeurs normales (moyenne 14 ± 3 mmHg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841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Toute HTAP est une HTP, mais toute HTP n’est pas une HTAP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3209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Plusieurs mécanismes physiopathologiques </a:t>
            </a:r>
            <a:r>
              <a:rPr lang="fr-FR" dirty="0" err="1"/>
              <a:t>particulèrement</a:t>
            </a:r>
            <a:r>
              <a:rPr lang="fr-FR" dirty="0"/>
              <a:t> HTAP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9958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Voie NO-GMPc (guanosine monophosphate cyclique) : libération NO, activation de GMPc , relaxation musculaire</a:t>
            </a:r>
          </a:p>
          <a:p>
            <a:r>
              <a:rPr lang="fr-FR" dirty="0"/>
              <a:t>Voie prostacycline-</a:t>
            </a:r>
            <a:r>
              <a:rPr lang="fr-FR" dirty="0" err="1"/>
              <a:t>AMPc</a:t>
            </a:r>
            <a:endParaRPr lang="fr-FR" dirty="0"/>
          </a:p>
          <a:p>
            <a:r>
              <a:rPr lang="fr-FR" dirty="0"/>
              <a:t>Voie endothéline</a:t>
            </a: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788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Aspect pseudo-tumorale</a:t>
            </a:r>
          </a:p>
          <a:p>
            <a:r>
              <a:rPr lang="fr-FR" dirty="0"/>
              <a:t>Épaississement irréversible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3212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Mutation BMPR2 : 70% de la forme héréditaire et 15 – 20% dans les causes idiopathiques</a:t>
            </a:r>
          </a:p>
          <a:p>
            <a:r>
              <a:rPr lang="fr-FR" dirty="0" err="1"/>
              <a:t>Role</a:t>
            </a:r>
            <a:r>
              <a:rPr lang="fr-FR" dirty="0"/>
              <a:t> des cytokines (IL-6)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1295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9712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Groupe 1: </a:t>
            </a: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7929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Groupe hétérogène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047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Groupe hétérogène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C33A-C9D8-4985-9E06-E89DB417BD54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429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4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16C2-156D-497A-AB29-052B6AA6484E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BACA2DAA-00FA-4B7E-BE03-0D33B4509096}" type="slidenum">
              <a:rPr lang="LID4096" smtClean="0"/>
              <a:pPr/>
              <a:t>‹N°›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2289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 b="1">
                <a:solidFill>
                  <a:schemeClr val="accent4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50000"/>
              </a:lnSpc>
              <a:buFont typeface="Courier New" panose="02070309020205020404" pitchFamily="49" charset="0"/>
              <a:buChar char="o"/>
              <a:defRPr sz="240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50000"/>
              </a:lnSpc>
              <a:buFont typeface="Wingdings" panose="05000000000000000000" pitchFamily="2" charset="2"/>
              <a:buChar char="v"/>
              <a:defRPr sz="240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0E52F-CA33-4251-8D5E-671198107831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BACA2DAA-00FA-4B7E-BE03-0D33B4509096}" type="slidenum">
              <a:rPr lang="LID4096" smtClean="0"/>
              <a:pPr/>
              <a:t>‹N°›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2241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EED6-4E0B-4732-B8DD-7FC55278AFE9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729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5FA0-8C24-4BBE-8889-344209A8FF29}" type="datetime1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654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69F9-1742-4D37-AB80-2699F4DA3AF9}" type="datetime1">
              <a:rPr lang="LID4096" smtClean="0"/>
              <a:t>03/23/2026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748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92B0-8D2E-41E2-A544-CE44631CA0BA}" type="datetime1">
              <a:rPr lang="LID4096" smtClean="0"/>
              <a:t>03/23/2026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902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17DF-9DBD-45DE-ADDE-848C9740F590}" type="datetime1">
              <a:rPr lang="LID4096" smtClean="0"/>
              <a:t>03/23/2026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644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C562-8D3C-490D-8019-57BB2C073C8D}" type="datetime1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448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F630-FB31-45E3-A59A-6D555DA4BE4F}" type="datetime1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259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BFF8-7724-4077-8175-E8F075CD7B7A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916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EEDE-725F-4C4A-9DFB-B7031E0D6637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34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F73C8-20D8-4CEB-A1EC-3A6B1E6A08F0}" type="datetime1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ACA2DAA-00FA-4B7E-BE03-0D33B4509096}" type="slidenum">
              <a:rPr lang="LID4096" smtClean="0"/>
              <a:pPr/>
              <a:t>‹N°›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4904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0FFD3-3EA2-44BD-8839-F57615E2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08945"/>
            <a:ext cx="7772400" cy="1736332"/>
          </a:xfrm>
        </p:spPr>
        <p:txBody>
          <a:bodyPr>
            <a:normAutofit/>
          </a:bodyPr>
          <a:lstStyle/>
          <a:p>
            <a:r>
              <a:rPr lang="fr-FR" sz="3200" dirty="0"/>
              <a:t>Hypertension pulmonaire : physiopathologie et classification selon ESC</a:t>
            </a:r>
            <a:r>
              <a:rPr lang="fr-FR" sz="3200"/>
              <a:t>/ERS 2022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A9BECC-9C1D-460C-A6B9-B8CA27AC1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95632"/>
            <a:ext cx="6858000" cy="165576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Réalisé par SOLONANDRANDRAINA M. et ZICO </a:t>
            </a:r>
          </a:p>
          <a:p>
            <a:r>
              <a:rPr lang="fr-FR" dirty="0"/>
              <a:t>5</a:t>
            </a:r>
            <a:r>
              <a:rPr lang="fr-FR" baseline="30000" dirty="0"/>
              <a:t>ème</a:t>
            </a:r>
            <a:r>
              <a:rPr lang="fr-FR" dirty="0"/>
              <a:t> année en Médecine Humaine </a:t>
            </a:r>
          </a:p>
          <a:p>
            <a:r>
              <a:rPr lang="fr-FR" dirty="0"/>
              <a:t>Professeur RABEARIVONY </a:t>
            </a:r>
            <a:r>
              <a:rPr lang="fr-FR" dirty="0" err="1"/>
              <a:t>Nirina</a:t>
            </a:r>
            <a:endParaRPr lang="fr-FR" dirty="0"/>
          </a:p>
          <a:p>
            <a:endParaRPr lang="LID4096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DE0C5F-87F5-411A-A5DC-0D95B7EC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752" y="330274"/>
            <a:ext cx="137723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A1FA5F6-B394-46E7-A54E-03BFAA753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634" y="349295"/>
            <a:ext cx="1410731" cy="154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02945D94-7AA7-435C-AA4B-E548D8D95416}"/>
              </a:ext>
            </a:extLst>
          </p:cNvPr>
          <p:cNvSpPr txBox="1">
            <a:spLocks/>
          </p:cNvSpPr>
          <p:nvPr/>
        </p:nvSpPr>
        <p:spPr>
          <a:xfrm>
            <a:off x="2126751" y="512217"/>
            <a:ext cx="4890498" cy="972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400" dirty="0">
                <a:solidFill>
                  <a:schemeClr val="bg1"/>
                </a:solidFill>
              </a:rPr>
              <a:t>Faculté de Médecine d’Antananarivo</a:t>
            </a:r>
            <a:endParaRPr lang="LID4096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45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83A2C-0FA5-4C47-829D-1FC72975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0C5793-23DA-48A9-98E9-8A67632D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9636"/>
            <a:ext cx="7886700" cy="3567326"/>
          </a:xfrm>
        </p:spPr>
        <p:txBody>
          <a:bodyPr>
            <a:normAutofit/>
          </a:bodyPr>
          <a:lstStyle/>
          <a:p>
            <a:r>
              <a:rPr lang="fr-FR" dirty="0"/>
              <a:t>Définir l’hypertension pulmonaire (HTP) selon ESC/ERS 2022</a:t>
            </a:r>
          </a:p>
          <a:p>
            <a:r>
              <a:rPr lang="fr-FR" dirty="0"/>
              <a:t>Distinguer l’HTP et HTAP</a:t>
            </a:r>
          </a:p>
          <a:p>
            <a:r>
              <a:rPr lang="fr-FR" dirty="0"/>
              <a:t>Maîtriser les mécanismes physiopathologiques de l’HTP</a:t>
            </a:r>
          </a:p>
          <a:p>
            <a:r>
              <a:rPr lang="fr-FR" dirty="0"/>
              <a:t>Connaître la classification clinique de l’HTP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28B3B4-008D-40B5-826A-A60E1F83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2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02067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7B8C4-407B-4C3D-A0EB-BFD95452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03A2F-B710-4A22-9B3F-C9F567C0F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220" y="2188395"/>
            <a:ext cx="6933129" cy="398856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Introduction </a:t>
            </a:r>
          </a:p>
          <a:p>
            <a:pPr marL="514350" indent="-514350">
              <a:buAutoNum type="romanUcPeriod"/>
            </a:pPr>
            <a:r>
              <a:rPr lang="fr-FR" dirty="0"/>
              <a:t>Physiopathologie</a:t>
            </a:r>
          </a:p>
          <a:p>
            <a:pPr marL="514350" indent="-514350">
              <a:buAutoNum type="romanUcPeriod"/>
            </a:pPr>
            <a:r>
              <a:rPr lang="fr-FR" dirty="0"/>
              <a:t>Classification </a:t>
            </a:r>
          </a:p>
          <a:p>
            <a:pPr marL="0" indent="0">
              <a:buNone/>
            </a:pPr>
            <a:r>
              <a:rPr lang="fr-FR" dirty="0"/>
              <a:t>Conclusion 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1A699E-4B38-4DDA-8BF9-980950B2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3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2476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E492D-4B13-4C7A-A600-39EF7B8B7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23F55F-8AD2-4307-98EF-FF736C222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14427"/>
            <a:ext cx="7886700" cy="3762536"/>
          </a:xfrm>
        </p:spPr>
        <p:txBody>
          <a:bodyPr/>
          <a:lstStyle/>
          <a:p>
            <a:r>
              <a:rPr lang="fr-FR" dirty="0"/>
              <a:t>Définition générale</a:t>
            </a:r>
          </a:p>
          <a:p>
            <a:pPr lvl="1"/>
            <a:r>
              <a:rPr lang="fr-FR" dirty="0"/>
              <a:t>Élévation de la pression artérielle pulmonaire moyenne (</a:t>
            </a:r>
            <a:r>
              <a:rPr lang="fr-FR" dirty="0" err="1"/>
              <a:t>PAPm</a:t>
            </a:r>
            <a:r>
              <a:rPr lang="fr-FR" dirty="0"/>
              <a:t>) supérieur à 20 mmHg</a:t>
            </a:r>
          </a:p>
          <a:p>
            <a:pPr lvl="1"/>
            <a:r>
              <a:rPr lang="fr-FR" dirty="0"/>
              <a:t>Mesuré par cathétérisme droit </a:t>
            </a:r>
          </a:p>
          <a:p>
            <a:r>
              <a:rPr lang="fr-FR" dirty="0"/>
              <a:t>Intérêts : pathologie rare mais potentiellement fatale</a:t>
            </a:r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11B487-99EE-4782-8AC8-97504CA7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4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4361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(2) 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80F9-A1ED-44BE-BE82-74DEA0D9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813" y="3603747"/>
            <a:ext cx="6892554" cy="206139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5</a:t>
            </a:fld>
            <a:endParaRPr lang="LID4096" dirty="0"/>
          </a:p>
        </p:txBody>
      </p:sp>
      <p:pic>
        <p:nvPicPr>
          <p:cNvPr id="1026" name="Picture 2" descr="L'hypertension pulmonaire: que doit savoir le praticien? - Medecine interne  - Universimed - Medizin im Fokus">
            <a:extLst>
              <a:ext uri="{FF2B5EF4-FFF2-40B4-BE49-F238E27FC236}">
                <a16:creationId xmlns:a16="http://schemas.microsoft.com/office/drawing/2014/main" id="{5BC514A3-1306-4EF5-B6DC-4E6F6C650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60" y="2457923"/>
            <a:ext cx="7991367" cy="445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06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18507-D5DB-46E0-B021-1541C15E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CFF8E-02BD-4B4B-B83B-CF8F419B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05013"/>
            <a:ext cx="7886700" cy="4351338"/>
          </a:xfrm>
        </p:spPr>
        <p:txBody>
          <a:bodyPr/>
          <a:lstStyle/>
          <a:p>
            <a:r>
              <a:rPr lang="fr-FR" dirty="0"/>
              <a:t>Hypertension pulmonaire (HTP)</a:t>
            </a:r>
          </a:p>
          <a:p>
            <a:pPr lvl="1"/>
            <a:r>
              <a:rPr lang="fr-FR" dirty="0"/>
              <a:t>Terme générique </a:t>
            </a:r>
          </a:p>
          <a:p>
            <a:pPr lvl="1"/>
            <a:r>
              <a:rPr lang="fr-FR" dirty="0"/>
              <a:t>Élévation anormale de la pression artérielle pulmonaire</a:t>
            </a:r>
          </a:p>
          <a:p>
            <a:r>
              <a:rPr lang="fr-FR" dirty="0"/>
              <a:t>Hypertension artérielle pulmonaire (HTAP)</a:t>
            </a:r>
          </a:p>
          <a:p>
            <a:pPr lvl="1"/>
            <a:r>
              <a:rPr lang="fr-FR" dirty="0"/>
              <a:t>Sous-groupe spécifique d’HTP</a:t>
            </a:r>
          </a:p>
          <a:p>
            <a:pPr lvl="1"/>
            <a:r>
              <a:rPr lang="fr-FR" dirty="0"/>
              <a:t>Groupe 1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8F65F9-BECE-4CF1-A818-DCB32F80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6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8649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A6BC3-FFC5-4FFE-BB6E-2B8AC329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20DE85-4480-413A-831A-A8BC0A755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40" y="2187575"/>
            <a:ext cx="7886700" cy="4351338"/>
          </a:xfrm>
        </p:spPr>
        <p:txBody>
          <a:bodyPr/>
          <a:lstStyle/>
          <a:p>
            <a:r>
              <a:rPr lang="fr-FR" dirty="0"/>
              <a:t>Plusieurs mécanismes</a:t>
            </a:r>
          </a:p>
          <a:p>
            <a:pPr lvl="1"/>
            <a:r>
              <a:rPr lang="fr-FR" dirty="0"/>
              <a:t>Dysfonction endothéliale</a:t>
            </a:r>
          </a:p>
          <a:p>
            <a:pPr lvl="1"/>
            <a:r>
              <a:rPr lang="fr-FR" dirty="0"/>
              <a:t>Remodelage vasculaire</a:t>
            </a:r>
          </a:p>
          <a:p>
            <a:pPr lvl="1"/>
            <a:r>
              <a:rPr lang="fr-FR" dirty="0"/>
              <a:t>Inflammation et thrombose</a:t>
            </a:r>
          </a:p>
          <a:p>
            <a:pPr lvl="1"/>
            <a:r>
              <a:rPr lang="fr-FR" dirty="0"/>
              <a:t>Conséquences hémodynamiques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C02D11-6B90-48C8-81D9-B47FB924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7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1409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776C5-7602-4F88-AD70-8ECFC64D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033B1F-AB8C-4430-BA3D-7DFF3F13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05013"/>
            <a:ext cx="7886700" cy="4351338"/>
          </a:xfrm>
        </p:spPr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Dysfonction endothéliale</a:t>
            </a:r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1CE7B9-64AB-403B-B8B0-6E32F256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8</a:t>
            </a:fld>
            <a:endParaRPr lang="LID4096" dirty="0"/>
          </a:p>
        </p:txBody>
      </p:sp>
      <p:pic>
        <p:nvPicPr>
          <p:cNvPr id="2052" name="Picture 4" descr="L'hypertension pulmonaire – Partie II : prise en charge « maismaismedicina">
            <a:extLst>
              <a:ext uri="{FF2B5EF4-FFF2-40B4-BE49-F238E27FC236}">
                <a16:creationId xmlns:a16="http://schemas.microsoft.com/office/drawing/2014/main" id="{7616363B-DD1A-4236-B548-8EFA8042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815303"/>
            <a:ext cx="7953964" cy="296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07B85-FB02-469F-BC28-1EB02ADF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4029"/>
            <a:ext cx="7886700" cy="13255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C6808-BD83-4BA4-8344-3B9B74573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16735"/>
            <a:ext cx="7886700" cy="2931310"/>
          </a:xfrm>
        </p:spPr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Remodelage vasculaire</a:t>
            </a:r>
          </a:p>
          <a:p>
            <a:pPr lvl="1"/>
            <a:r>
              <a:rPr lang="fr-FR" dirty="0"/>
              <a:t>Hypertrophie médiale</a:t>
            </a:r>
          </a:p>
          <a:p>
            <a:pPr lvl="1"/>
            <a:r>
              <a:rPr lang="fr-FR" dirty="0"/>
              <a:t>Prolifération </a:t>
            </a:r>
            <a:r>
              <a:rPr lang="fr-FR" dirty="0" err="1"/>
              <a:t>intimale</a:t>
            </a:r>
            <a:endParaRPr lang="fr-FR" dirty="0"/>
          </a:p>
          <a:p>
            <a:pPr lvl="1"/>
            <a:r>
              <a:rPr lang="fr-FR" dirty="0"/>
              <a:t>Lésions plexiformes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54660-2B73-4B3F-994D-9534D35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9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33869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07B85-FB02-469F-BC28-1EB02ADF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(4)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C6808-BD83-4BA4-8344-3B9B74573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96233"/>
            <a:ext cx="7886700" cy="3588856"/>
          </a:xfrm>
        </p:spPr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Inflammation, thrombose et facteurs génétiques</a:t>
            </a:r>
          </a:p>
          <a:p>
            <a:pPr lvl="1"/>
            <a:r>
              <a:rPr lang="fr-FR" dirty="0"/>
              <a:t>Inflammation chronique </a:t>
            </a:r>
          </a:p>
          <a:p>
            <a:pPr lvl="1"/>
            <a:r>
              <a:rPr lang="fr-FR" dirty="0"/>
              <a:t>Anomalies métaboliques </a:t>
            </a:r>
          </a:p>
          <a:p>
            <a:pPr lvl="1"/>
            <a:r>
              <a:rPr lang="fr-FR" dirty="0"/>
              <a:t>Influence hormonale </a:t>
            </a:r>
          </a:p>
          <a:p>
            <a:pPr lvl="1"/>
            <a:r>
              <a:rPr lang="fr-FR" dirty="0"/>
              <a:t>Mutation génétique (ex : BMPR2)</a:t>
            </a:r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54660-2B73-4B3F-994D-9534D35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203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07B85-FB02-469F-BC28-1EB02ADF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(5)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54660-2B73-4B3F-994D-9534D35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11</a:t>
            </a:fld>
            <a:endParaRPr lang="LID4096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E01F07B-4FAA-4CF2-B9A4-42F84CBF51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7580" y="1690689"/>
            <a:ext cx="6168840" cy="449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871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07B85-FB02-469F-BC28-1EB02ADF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Physiopathologie (6)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C6808-BD83-4BA4-8344-3B9B74573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1947"/>
            <a:ext cx="7886700" cy="4605016"/>
          </a:xfrm>
        </p:spPr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Conséquences hémodynamiques</a:t>
            </a:r>
          </a:p>
          <a:p>
            <a:pPr marL="457200" lvl="1" indent="0">
              <a:buNone/>
            </a:pPr>
            <a:endParaRPr lang="fr-FR" dirty="0"/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54660-2B73-4B3F-994D-9534D35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12</a:t>
            </a:fld>
            <a:endParaRPr lang="LID4096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96F6A34-3193-4643-AF01-249A144FA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73" y="2331821"/>
            <a:ext cx="6172854" cy="416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96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	Classification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80F9-A1ED-44BE-BE82-74DEA0D9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43" y="1910993"/>
            <a:ext cx="7886700" cy="4294598"/>
          </a:xfrm>
        </p:spPr>
        <p:txBody>
          <a:bodyPr/>
          <a:lstStyle/>
          <a:p>
            <a:r>
              <a:rPr lang="fr-FR" dirty="0"/>
              <a:t>Selon la ESC et ERS en 2022</a:t>
            </a:r>
          </a:p>
          <a:p>
            <a:pPr lvl="1"/>
            <a:r>
              <a:rPr lang="fr-FR" dirty="0"/>
              <a:t>Classification selon les étiologies proches en terme de manifestation clinique</a:t>
            </a:r>
          </a:p>
          <a:p>
            <a:pPr lvl="1"/>
            <a:r>
              <a:rPr lang="fr-FR" dirty="0"/>
              <a:t>Selon les mécanismes physiopathologiques</a:t>
            </a:r>
          </a:p>
          <a:p>
            <a:pPr lvl="1"/>
            <a:r>
              <a:rPr lang="fr-FR" dirty="0"/>
              <a:t>But pour la stratégie thérapeutique</a:t>
            </a:r>
          </a:p>
          <a:p>
            <a:pPr lvl="1"/>
            <a:r>
              <a:rPr lang="fr-FR" dirty="0"/>
              <a:t>Classification en cinq (05) groupes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13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5911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	Classification (2)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A86709A-989D-409C-84BB-9DA12EC6B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59" y="1567400"/>
            <a:ext cx="7317882" cy="464846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14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30346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	Classification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80F9-A1ED-44BE-BE82-74DEA0D94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15</a:t>
            </a:fld>
            <a:endParaRPr lang="LID4096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CCD700-A55B-4571-AE3A-0197FACDE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49" y="1343025"/>
            <a:ext cx="4691301" cy="514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5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	Classification (4)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80F9-A1ED-44BE-BE82-74DEA0D94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16</a:t>
            </a:fld>
            <a:endParaRPr lang="LID4096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C62F55-89A8-41A3-8B50-A61E53507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01" y="1362075"/>
            <a:ext cx="5237198" cy="513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4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CFFD8-2C78-4DE4-84EA-EBB82E8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	Classification (5)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80F9-A1ED-44BE-BE82-74DEA0D94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985E4F-B978-48A9-96C0-BD8A32B8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17</a:t>
            </a:fld>
            <a:endParaRPr lang="LID4096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C0487D-62C5-420B-9150-518FF55C1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15" y="1870077"/>
            <a:ext cx="8622970" cy="43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62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B611D-28E7-468F-814B-B9413168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2D7CE5-C738-43BC-9966-E4619C3C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Élévation de </a:t>
            </a:r>
            <a:r>
              <a:rPr lang="fr-FR" dirty="0" err="1"/>
              <a:t>PAPm</a:t>
            </a:r>
            <a:r>
              <a:rPr lang="fr-FR" dirty="0"/>
              <a:t> </a:t>
            </a:r>
            <a:r>
              <a:rPr lang="en-US" dirty="0"/>
              <a:t>&gt;</a:t>
            </a:r>
            <a:r>
              <a:rPr lang="fr-FR" dirty="0"/>
              <a:t> 20 mmHg au cathétérisme cardiaque droit</a:t>
            </a:r>
          </a:p>
          <a:p>
            <a:r>
              <a:rPr lang="fr-FR" dirty="0"/>
              <a:t>Plusieurs mécanismes physiopathologiques peuvent déclencher l’HTP, généralement cardiaque et pulmonaire </a:t>
            </a:r>
          </a:p>
          <a:p>
            <a:r>
              <a:rPr lang="fr-FR" dirty="0"/>
              <a:t>Classification actualisée en cinq (05) par les étiologies, les mécanismes physiopathologique et stratégies thérapeutiques par l’ESC et l’ERS en 2022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0FCF0F-1335-4004-8B34-1FCB9AE5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7309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CC811-5B59-4DAF-A035-9BDF9DB9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D488A-6DF8-4A99-94E8-73A8CFD6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31" y="2370138"/>
            <a:ext cx="7886700" cy="4351338"/>
          </a:xfrm>
        </p:spPr>
        <p:txBody>
          <a:bodyPr/>
          <a:lstStyle/>
          <a:p>
            <a:r>
              <a:rPr lang="fr-FR" dirty="0"/>
              <a:t>Humbert M, Kovacs G, et al. 2022 ESC/ERS </a:t>
            </a:r>
            <a:r>
              <a:rPr lang="fr-FR" dirty="0" err="1"/>
              <a:t>Guidlines</a:t>
            </a:r>
            <a:r>
              <a:rPr lang="fr-FR" dirty="0"/>
              <a:t> for the </a:t>
            </a:r>
            <a:r>
              <a:rPr lang="fr-FR" dirty="0" err="1"/>
              <a:t>diagnosis</a:t>
            </a:r>
            <a:r>
              <a:rPr lang="fr-FR" dirty="0"/>
              <a:t> and </a:t>
            </a:r>
            <a:r>
              <a:rPr lang="fr-FR" dirty="0" err="1"/>
              <a:t>treatement</a:t>
            </a:r>
            <a:r>
              <a:rPr lang="fr-FR" dirty="0"/>
              <a:t> of </a:t>
            </a:r>
            <a:r>
              <a:rPr lang="fr-FR" dirty="0" err="1"/>
              <a:t>pulmonary</a:t>
            </a:r>
            <a:r>
              <a:rPr lang="fr-FR" dirty="0"/>
              <a:t> hypertension.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Heart</a:t>
            </a:r>
            <a:r>
              <a:rPr lang="fr-FR" dirty="0"/>
              <a:t> Journal. 2022</a:t>
            </a:r>
          </a:p>
          <a:p>
            <a:r>
              <a:rPr lang="fr-FR" dirty="0"/>
              <a:t>Simonneau G, et al. 6th World Symposium on </a:t>
            </a:r>
            <a:r>
              <a:rPr lang="fr-FR" dirty="0" err="1"/>
              <a:t>Pulmonary</a:t>
            </a:r>
            <a:r>
              <a:rPr lang="fr-FR" dirty="0"/>
              <a:t> Hypertension. 2018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47F3F3-DB25-4923-B425-096C1158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DAA-00FA-4B7E-BE03-0D33B4509096}" type="slidenum">
              <a:rPr lang="LID4096" smtClean="0"/>
              <a:pPr/>
              <a:t>19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77672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4565D-31D7-47E5-8417-B5D2357DF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DE VOTRE ATTENTION !!!</a:t>
            </a:r>
            <a:endParaRPr lang="LID4096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FA55A3-8DFA-41C2-89B4-5E0B5E248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0490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0FFD3-3EA2-44BD-8839-F57615E2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08945"/>
            <a:ext cx="7772400" cy="1736332"/>
          </a:xfrm>
        </p:spPr>
        <p:txBody>
          <a:bodyPr>
            <a:normAutofit/>
          </a:bodyPr>
          <a:lstStyle/>
          <a:p>
            <a:r>
              <a:rPr lang="fr-FR" sz="3200" dirty="0"/>
              <a:t>Hypertension pulmonaire : physiopathologie et classification selon ESC/ERS 2022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A9BECC-9C1D-460C-A6B9-B8CA27AC1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95632"/>
            <a:ext cx="6858000" cy="165576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Réalisé par SOLONANDRANDRAINA M. et ZICO </a:t>
            </a:r>
          </a:p>
          <a:p>
            <a:r>
              <a:rPr lang="fr-FR" dirty="0"/>
              <a:t>5</a:t>
            </a:r>
            <a:r>
              <a:rPr lang="fr-FR" baseline="30000" dirty="0"/>
              <a:t>ème</a:t>
            </a:r>
            <a:r>
              <a:rPr lang="fr-FR" dirty="0"/>
              <a:t> année en Médecine Humaine </a:t>
            </a:r>
          </a:p>
          <a:p>
            <a:r>
              <a:rPr lang="fr-FR" dirty="0"/>
              <a:t>Professeur RABEARIVONY </a:t>
            </a:r>
            <a:r>
              <a:rPr lang="fr-FR" dirty="0" err="1"/>
              <a:t>Nirina</a:t>
            </a:r>
            <a:endParaRPr lang="fr-FR" dirty="0"/>
          </a:p>
          <a:p>
            <a:endParaRPr lang="LID4096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DE0C5F-87F5-411A-A5DC-0D95B7EC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752" y="330274"/>
            <a:ext cx="137723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A1FA5F6-B394-46E7-A54E-03BFAA753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634" y="349295"/>
            <a:ext cx="1410731" cy="154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02945D94-7AA7-435C-AA4B-E548D8D95416}"/>
              </a:ext>
            </a:extLst>
          </p:cNvPr>
          <p:cNvSpPr txBox="1">
            <a:spLocks/>
          </p:cNvSpPr>
          <p:nvPr/>
        </p:nvSpPr>
        <p:spPr>
          <a:xfrm>
            <a:off x="2126751" y="512217"/>
            <a:ext cx="4890498" cy="972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400" dirty="0">
                <a:solidFill>
                  <a:schemeClr val="bg1"/>
                </a:solidFill>
              </a:rPr>
              <a:t>Faculté de Médecine d’Antananarivo</a:t>
            </a:r>
            <a:endParaRPr lang="LID4096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6419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2953</TotalTime>
  <Words>509</Words>
  <Application>Microsoft Office PowerPoint</Application>
  <PresentationFormat>Affichage à l'écran (4:3)</PresentationFormat>
  <Paragraphs>117</Paragraphs>
  <Slides>21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Arial Narrow</vt:lpstr>
      <vt:lpstr>Calibri</vt:lpstr>
      <vt:lpstr>Courier New</vt:lpstr>
      <vt:lpstr>Wingdings</vt:lpstr>
      <vt:lpstr>Thème Office</vt:lpstr>
      <vt:lpstr>Hypertension pulmonaire : physiopathologie et classification selon ESC/ERS 2022</vt:lpstr>
      <vt:lpstr>Objectifs</vt:lpstr>
      <vt:lpstr>Plan</vt:lpstr>
      <vt:lpstr>Introduction (1)</vt:lpstr>
      <vt:lpstr>Introduction (2) </vt:lpstr>
      <vt:lpstr>Introduction (3)</vt:lpstr>
      <vt:lpstr>Physiopathologie (1)</vt:lpstr>
      <vt:lpstr>Physiopathologie (2)</vt:lpstr>
      <vt:lpstr>Physiopathologie (3)</vt:lpstr>
      <vt:lpstr>Physiopathologie (4)</vt:lpstr>
      <vt:lpstr>Physiopathologie (5)</vt:lpstr>
      <vt:lpstr>Physiopathologie (6)</vt:lpstr>
      <vt:lpstr>II. Classification (1)</vt:lpstr>
      <vt:lpstr>II. Classification (2)</vt:lpstr>
      <vt:lpstr>II. Classification (3)</vt:lpstr>
      <vt:lpstr>II. Classification (4)</vt:lpstr>
      <vt:lpstr>II. Classification (5)</vt:lpstr>
      <vt:lpstr>Conclusion</vt:lpstr>
      <vt:lpstr>Références</vt:lpstr>
      <vt:lpstr>MERCI DE VOTRE ATTENTION !!!</vt:lpstr>
      <vt:lpstr>Hypertension pulmonaire : physiopathologie et classification selon ESC/ERS 2022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ZICO</dc:creator>
  <cp:lastModifiedBy>ZICO</cp:lastModifiedBy>
  <cp:revision>91</cp:revision>
  <dcterms:created xsi:type="dcterms:W3CDTF">2026-03-03T20:10:38Z</dcterms:created>
  <dcterms:modified xsi:type="dcterms:W3CDTF">2026-03-23T06:51:48Z</dcterms:modified>
</cp:coreProperties>
</file>