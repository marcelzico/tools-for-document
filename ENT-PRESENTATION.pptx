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3" r:id="rId26"/>
    <p:sldId id="282" r:id="rId27"/>
    <p:sldId id="284" r:id="rId28"/>
    <p:sldId id="281" r:id="rId29"/>
    <p:sldId id="285" r:id="rId30"/>
    <p:sldId id="280" r:id="rId31"/>
    <p:sldId id="290" r:id="rId32"/>
    <p:sldId id="288" r:id="rId33"/>
    <p:sldId id="291" r:id="rId34"/>
  </p:sldIdLst>
  <p:sldSz cx="9144000" cy="6858000" type="screen4x3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792" autoAdjust="0"/>
  </p:normalViewPr>
  <p:slideViewPr>
    <p:cSldViewPr snapToGrid="0">
      <p:cViewPr>
        <p:scale>
          <a:sx n="62" d="100"/>
          <a:sy n="62" d="100"/>
        </p:scale>
        <p:origin x="1400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ECFBD-21A2-4C6D-894C-76DDA11897CB}" type="datetimeFigureOut">
              <a:rPr lang="LID4096" smtClean="0"/>
              <a:t>05/20/2026</a:t>
            </a:fld>
            <a:endParaRPr lang="LID4096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E7B22-77B3-4A80-9B2F-B138E9B52948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84987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2 grandes parties : la présentation et la démonstration du plateforme directe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E7B22-77B3-4A80-9B2F-B138E9B52948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27012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vivons dans un mode où règne 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E7B22-77B3-4A80-9B2F-B138E9B52948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9356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Face à cette éventualité se pose des problèmes :</a:t>
            </a:r>
          </a:p>
          <a:p>
            <a:r>
              <a:rPr lang="fr-FR" dirty="0"/>
              <a:t>Du côté de la plateforme actuelle :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E7B22-77B3-4A80-9B2F-B138E9B52948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6427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E7B22-77B3-4A80-9B2F-B138E9B52948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3744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 dehors des examens organisé par la faculté ; 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E7B22-77B3-4A80-9B2F-B138E9B52948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21159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E7B22-77B3-4A80-9B2F-B138E9B52948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48821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7F24F7-4318-4D36-B9D9-83D6FFCDB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072E276-6D64-417E-B3C1-E3A1E2E3A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06DE2E-F182-4FCD-97FD-D7CD5AAD8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B21C-8743-481F-917C-60CB258DF554}" type="datetime1">
              <a:rPr lang="LID4096" smtClean="0"/>
              <a:t>05/20/2026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E2E511-28AC-4384-AAAA-01FD449DB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FB339A-FE86-45AB-B430-9F3BF50A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6354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D02215-B670-4C36-B7D8-940D47C3D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F35F7D-068F-4B4C-A2E7-00282B95A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29F1C2-4EBC-44C0-ADAE-B8F69B985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1E53B-17BF-46BA-B2DC-1C93CD43085F}" type="datetime1">
              <a:rPr lang="LID4096" smtClean="0"/>
              <a:t>05/20/2026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056E22-832C-4E64-88B4-0D3BECD09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63697E-808D-4932-9384-833110FA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7038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95B58F-AB19-4DBD-85C8-8EF2F435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D18F2F-8632-479B-B9BF-985D52515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C427FC-2876-4223-972C-C0E7EB35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00D6-D45D-4BCA-AE58-F767BDF38F56}" type="datetime1">
              <a:rPr lang="LID4096" smtClean="0"/>
              <a:t>05/20/2026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2FB8B0-6A39-46C1-8A66-FAEFB8942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2E1EAA-E5B7-4246-90B1-9C19D109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00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5352E3-4788-44FC-B262-6AEECD71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B4E617-B5B3-49D9-B1B7-777DAF5A5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74293CA-42C6-4301-AE89-ED5A2CD67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718B88-E044-4C57-B506-6D4490BF2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F915-09D7-4B52-9E30-4E2B2446ED0B}" type="datetime1">
              <a:rPr lang="LID4096" smtClean="0"/>
              <a:t>05/20/2026</a:t>
            </a:fld>
            <a:endParaRPr lang="LID4096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08763C-BFED-475C-8B2C-7CD7C840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4030EC-5F74-42F7-A75C-9899CE90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137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608616-D2CB-4834-BCCC-C08F5921E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F9CA72-3C38-4883-B082-AA4D0C44A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A6DD825-DA37-439F-9CDC-AD05B66B4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FE2F5B2-174A-4C60-A620-8BE3C5A7D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9322852-9193-4DAC-B835-3AAFFAC53A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E6884F5-C70B-40CC-B47A-7B1D67406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23B1-ECE0-4A18-9A4E-215B537A1C08}" type="datetime1">
              <a:rPr lang="LID4096" smtClean="0"/>
              <a:t>05/20/2026</a:t>
            </a:fld>
            <a:endParaRPr lang="LID4096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F099041-8A92-4FFB-8556-89796D511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6E22F7B-613D-4983-A479-AA135C0E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3004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0F7629-F56D-459B-98F3-8CAE40E5F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8552498-B267-4ED3-8ACF-7BAAA1A4A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6194-F968-4D42-841F-B11B3B852595}" type="datetime1">
              <a:rPr lang="LID4096" smtClean="0"/>
              <a:t>05/20/2026</a:t>
            </a:fld>
            <a:endParaRPr lang="LID4096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80958B-0B3E-40BC-A313-FC535E28A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3F78ED-EFB9-4A38-9D1F-746ED94A8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339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BF771A1-41D9-44A3-A814-AF8B2BD8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AA36-83E9-4E7F-896C-886DFE9B33B1}" type="datetime1">
              <a:rPr lang="LID4096" smtClean="0"/>
              <a:t>05/20/2026</a:t>
            </a:fld>
            <a:endParaRPr lang="LID4096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6FD346F-F445-42F6-BAEA-6C133B466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26C7B6-876F-49A6-AE5A-0B64C324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067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1A0BD9-0E10-4FBD-8411-B59012609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F444C6-764F-478D-8357-362278658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939EB28-F28A-4C87-8166-88B69B931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D967AA-D9C5-4DCF-820A-819B3951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9A5F-217B-48EF-8BA5-8EF9A37051AA}" type="datetime1">
              <a:rPr lang="LID4096" smtClean="0"/>
              <a:t>05/20/2026</a:t>
            </a:fld>
            <a:endParaRPr lang="LID4096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B86B4C-CC2C-4A5D-AD5C-3AB63F95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17B487-5B7E-49E5-B75F-CD3FF5D2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347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CEB71A-763A-40F4-AC6C-2622CD827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693A7BE-DEDD-4E3B-9DC2-24C4BD1806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7EC648-F63B-44C8-9E55-BF271861C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E60674-2C1D-4561-9663-C06BFD85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3DD7-4F54-4A0C-A329-4D82AAFD2429}" type="datetime1">
              <a:rPr lang="LID4096" smtClean="0"/>
              <a:t>05/20/2026</a:t>
            </a:fld>
            <a:endParaRPr lang="LID4096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A1206F-88D9-4154-9CE8-FA97B981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467F61-5FEF-47A1-AEF7-C305A328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6866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F1AA7E-530E-4B95-A468-0E20C52F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189EC88-8D76-4F0B-95D8-3E1592598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7E9E36-0F95-44EA-A67A-A72498619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BA73-9711-4545-82CF-42251A149565}" type="datetime1">
              <a:rPr lang="LID4096" smtClean="0"/>
              <a:t>05/20/2026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96EEC3-9CDB-4802-BD9D-AEBA4C4F6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3086EA-E561-4ADF-A45F-4B6E286D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54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3644F3C-7315-467B-B489-DE8B4EE7FB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4D157FA-942C-4259-8BBC-C3141FABF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BEAB67-6B15-48CA-A6A5-BD732A14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B0182-3383-4541-9329-AD6AAF5F5452}" type="datetime1">
              <a:rPr lang="LID4096" smtClean="0"/>
              <a:t>05/20/2026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E5204C-5D89-40EB-B55B-9FF69B1C2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B6388A-5CD5-44A1-B6D7-352EF245E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615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254C0D1-8638-4D1C-845A-43930F648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LID4096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357355-DF7E-489D-BF1A-AF4D0E41B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LID4096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370BE8-5C02-4B95-879D-B40FD8AA87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7F375-7391-49DA-95D8-9E3A98FFB8BB}" type="datetime1">
              <a:rPr lang="LID4096" smtClean="0"/>
              <a:t>05/20/2026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B830B7-B6A0-487B-A449-AB81B29CF6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CBE745-EFFB-4A7F-AC01-8240D5687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AAC6D5-9475-480E-B9EE-E65FD4CC1713}" type="slidenum">
              <a:rPr lang="LID4096" smtClean="0"/>
              <a:pPr/>
              <a:t>‹N°›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3024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FFC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v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C7699A-A810-4553-A9A1-395A1F6D86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3200" dirty="0"/>
              <a:t>Projet d’amélioration de l’espace numérique de travail (ENT) au sein de la Faculté de Médecine d’Antananarivo</a:t>
            </a:r>
            <a:endParaRPr lang="LID4096" sz="32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17C33A8-9613-4FE2-9E09-2FCCD9BE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2133599"/>
          </a:xfrm>
        </p:spPr>
        <p:txBody>
          <a:bodyPr>
            <a:normAutofit fontScale="85000" lnSpcReduction="10000"/>
          </a:bodyPr>
          <a:lstStyle/>
          <a:p>
            <a:r>
              <a:rPr lang="fr-FR" dirty="0"/>
              <a:t>Réalisé et présenté par ZICO </a:t>
            </a:r>
          </a:p>
          <a:p>
            <a:r>
              <a:rPr lang="fr-FR" dirty="0"/>
              <a:t>Étudiant 5</a:t>
            </a:r>
            <a:r>
              <a:rPr lang="fr-FR" baseline="30000" dirty="0"/>
              <a:t>ème</a:t>
            </a:r>
            <a:r>
              <a:rPr lang="fr-FR" dirty="0"/>
              <a:t> année Médecine Humaine</a:t>
            </a:r>
          </a:p>
          <a:p>
            <a:r>
              <a:rPr lang="fr-FR" dirty="0"/>
              <a:t>Pr SAMISON Luc Hervé et son équipe</a:t>
            </a:r>
          </a:p>
          <a:p>
            <a:r>
              <a:rPr lang="fr-FR" dirty="0"/>
              <a:t>21/05/2026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188682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F9ED4-77C2-407B-A846-D92BC9553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AEA845-1B8F-44C2-ACC3-EDA5D366A7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dirty="0"/>
              <a:t>Contexte général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Constats et problématiques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Conséquences pédagogiques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Vision du projet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Solution proposée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Organisation des utilisateurs</a:t>
            </a:r>
          </a:p>
          <a:p>
            <a:endParaRPr lang="LID4096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982F6E-4F2E-439A-BACE-1DB672373D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buAutoNum type="arabicPeriod" startAt="7"/>
            </a:pPr>
            <a:r>
              <a:rPr lang="fr-FR" dirty="0"/>
              <a:t>Fonctionnalités principales</a:t>
            </a:r>
          </a:p>
          <a:p>
            <a:pPr marL="457200" indent="-457200">
              <a:buAutoNum type="arabicPeriod" startAt="7"/>
            </a:pPr>
            <a:r>
              <a:rPr lang="fr-FR" dirty="0"/>
              <a:t>Impact pédagogiques attendu</a:t>
            </a:r>
          </a:p>
          <a:p>
            <a:pPr marL="457200" indent="-457200">
              <a:buAutoNum type="arabicPeriod" startAt="7"/>
            </a:pPr>
            <a:r>
              <a:rPr lang="fr-FR" dirty="0"/>
              <a:t>Perspectives d’évolution</a:t>
            </a:r>
          </a:p>
          <a:p>
            <a:pPr marL="457200" indent="-457200">
              <a:buAutoNum type="arabicPeriod" startAt="7"/>
            </a:pPr>
            <a:r>
              <a:rPr lang="fr-FR" dirty="0"/>
              <a:t>Illustrations </a:t>
            </a:r>
          </a:p>
          <a:p>
            <a:pPr marL="457200" indent="-457200">
              <a:buAutoNum type="arabicPeriod" startAt="7"/>
            </a:pPr>
            <a:r>
              <a:rPr lang="fr-FR" dirty="0"/>
              <a:t>Conclusion </a:t>
            </a:r>
            <a:endParaRPr lang="LID4096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069F71B-B40A-498A-8BB7-CC87B677D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7625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CCEFE9-49B4-4C19-B978-4863CDBEF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Contexte général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CC6092-1449-40AB-96FB-58500D9AE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L’évolution rapide des technologies transforme les méthodes d’apprentissage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étudiants ont besoin d’outils numériques plus interactifs et accessibles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plateformes universitaires actuelles restent souvent limitées dans l’approche pédagogique convenable à ces besoins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Importance d’un accompagnement plus ou moins personnalisé dans les études médicales </a:t>
            </a:r>
          </a:p>
          <a:p>
            <a:endParaRPr lang="LID4096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E7A153F-1686-4CA1-BEC4-BF621C5AE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860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FECCD5-D371-4767-8DA9-E32EA717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Constats et problématiques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BB0080-A068-40B4-A37A-D6F0C0FA8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87270"/>
            <a:ext cx="7886700" cy="4351338"/>
          </a:xfrm>
        </p:spPr>
        <p:txBody>
          <a:bodyPr>
            <a:normAutofit fontScale="92500"/>
          </a:bodyPr>
          <a:lstStyle/>
          <a:p>
            <a:r>
              <a:rPr lang="fr-FR" b="1" dirty="0"/>
              <a:t>Limites des plateformes actuelles </a:t>
            </a:r>
          </a:p>
          <a:p>
            <a:pPr lvl="1"/>
            <a:r>
              <a:rPr lang="fr-FR" dirty="0"/>
              <a:t>Interface peu adaptée aux usages modernes </a:t>
            </a:r>
          </a:p>
          <a:p>
            <a:pPr lvl="1"/>
            <a:r>
              <a:rPr lang="fr-FR" dirty="0"/>
              <a:t>Faible flexibilité dans l’organisation de l’apprentissage  </a:t>
            </a:r>
          </a:p>
          <a:p>
            <a:pPr lvl="1"/>
            <a:r>
              <a:rPr lang="fr-FR" dirty="0"/>
              <a:t>Difficulté d’accès rapide aux ressources pédagogiques </a:t>
            </a:r>
          </a:p>
          <a:p>
            <a:pPr lvl="1"/>
            <a:r>
              <a:rPr lang="fr-FR" dirty="0"/>
              <a:t>Peu d’interactivité pédagogique </a:t>
            </a:r>
          </a:p>
          <a:p>
            <a:pPr lvl="1"/>
            <a:r>
              <a:rPr lang="fr-FR" dirty="0"/>
              <a:t>Absence d’outils de suivi individuel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CD5C19-F83F-4AD6-A8EF-E427A0F1D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9924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FECCD5-D371-4767-8DA9-E32EA717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Constats et problématiques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BB0080-A068-40B4-A37A-D6F0C0FA8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Engagement étudiant limité </a:t>
            </a:r>
          </a:p>
          <a:p>
            <a:pPr lvl="1"/>
            <a:r>
              <a:rPr lang="fr-FR" dirty="0"/>
              <a:t>Faible utilisation régulière de la plateforme existante </a:t>
            </a:r>
          </a:p>
          <a:p>
            <a:pPr lvl="1"/>
            <a:r>
              <a:rPr lang="fr-FR" dirty="0"/>
              <a:t>Perte progressive d’intérêt des étudiants </a:t>
            </a:r>
          </a:p>
          <a:p>
            <a:pPr lvl="1"/>
            <a:r>
              <a:rPr lang="fr-FR" dirty="0"/>
              <a:t>Difficultés liées à l’authentification et à l’accessibilité 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C66B76-6D8B-4427-A52E-59490C5DD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905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FB0C4C-A6FC-4961-9642-1B1A07A3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Conséquences pédagogiques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EF1196-4E5B-4295-95C6-622CB07B1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Pour les étudiants</a:t>
            </a:r>
          </a:p>
          <a:p>
            <a:pPr lvl="1"/>
            <a:r>
              <a:rPr lang="fr-FR" dirty="0"/>
              <a:t>Apprentissage centré principalement sur la prise de notes comme au collège et au lycée </a:t>
            </a:r>
          </a:p>
          <a:p>
            <a:pPr lvl="1"/>
            <a:r>
              <a:rPr lang="fr-FR" dirty="0"/>
              <a:t>Manque d’exercices pratiques et d’auto-évaluation </a:t>
            </a:r>
          </a:p>
          <a:p>
            <a:pPr lvl="1"/>
            <a:r>
              <a:rPr lang="fr-FR" dirty="0"/>
              <a:t>Difficulté à suivre sa progression académique </a:t>
            </a:r>
          </a:p>
          <a:p>
            <a:pPr lvl="1"/>
            <a:r>
              <a:rPr lang="fr-FR" dirty="0"/>
              <a:t>Révisions souvent désorganisées </a:t>
            </a:r>
          </a:p>
          <a:p>
            <a:pPr lvl="1"/>
            <a:r>
              <a:rPr lang="fr-FR" dirty="0"/>
              <a:t>Difficulté à identifier ses lacunes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F1998E-45CA-4588-91C2-E95D347F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12157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FF5C48-0F13-4A56-9B94-2B217103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Conséquences pédagogiques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0A60B6-90A3-419D-AAE6-942B5205A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Pour les enseignants </a:t>
            </a:r>
          </a:p>
          <a:p>
            <a:pPr lvl="1"/>
            <a:r>
              <a:rPr lang="fr-FR" dirty="0"/>
              <a:t>Peu de visibilité sur le niveau réel des étudiants </a:t>
            </a:r>
          </a:p>
          <a:p>
            <a:pPr lvl="1"/>
            <a:r>
              <a:rPr lang="fr-FR" dirty="0"/>
              <a:t>Difficulté à suivre l’évolution globale d’une promotion </a:t>
            </a:r>
          </a:p>
          <a:p>
            <a:pPr lvl="1"/>
            <a:r>
              <a:rPr lang="fr-FR" dirty="0"/>
              <a:t>Manque d’outils analytiques pédagogiques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771EBB-7B5B-4E6D-B71B-74764646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99955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46B53B-DFF1-41D1-917F-B0FF1590D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Vision et objectifs du projet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2D07EF-DF29-4525-9277-A220E398D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Vision </a:t>
            </a:r>
          </a:p>
          <a:p>
            <a:pPr lvl="1"/>
            <a:r>
              <a:rPr lang="fr-FR" dirty="0"/>
              <a:t>Créer un environnement numérique moderne permettant un apprentissage médical plus interactif, structuré et personnalisé.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1800DE-1C0A-44B3-BF44-9392531B2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7846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46B53B-DFF1-41D1-917F-B0FF1590D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Vision et objectifs du projet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2D07EF-DF29-4525-9277-A220E398D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/>
              <a:t>Objectifs </a:t>
            </a:r>
          </a:p>
          <a:p>
            <a:pPr lvl="1"/>
            <a:r>
              <a:rPr lang="fr-FR" dirty="0"/>
              <a:t>Centraliser les ressources pédagogiques </a:t>
            </a:r>
          </a:p>
          <a:p>
            <a:pPr lvl="1"/>
            <a:r>
              <a:rPr lang="fr-FR" dirty="0"/>
              <a:t>Favoriser l’apprentissage actif </a:t>
            </a:r>
          </a:p>
          <a:p>
            <a:pPr lvl="1"/>
            <a:r>
              <a:rPr lang="fr-FR" dirty="0"/>
              <a:t>Faciliter le suivi académique des étudiants </a:t>
            </a:r>
          </a:p>
          <a:p>
            <a:pPr lvl="1"/>
            <a:r>
              <a:rPr lang="fr-FR" dirty="0"/>
              <a:t>Renforcer l’interaction pédagogique entre étudiants et enseignants </a:t>
            </a:r>
          </a:p>
          <a:p>
            <a:pPr lvl="1"/>
            <a:r>
              <a:rPr lang="fr-FR" dirty="0"/>
              <a:t>Utiliser les technologies numériques pour améliorer la qualité de la formation médicale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89706B-B83A-4D22-99A8-390DFF722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420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0E3621-4301-46F4-A0C7-FA47B2415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Solution proposée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479824-79D4-4864-B384-9EDFA4DAB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b="1" dirty="0"/>
              <a:t>La plateforme propose </a:t>
            </a:r>
          </a:p>
          <a:p>
            <a:pPr lvl="1"/>
            <a:r>
              <a:rPr lang="fr-FR" dirty="0"/>
              <a:t>Un espace numérique centralisé pour les études médicales </a:t>
            </a:r>
          </a:p>
          <a:p>
            <a:pPr lvl="1"/>
            <a:r>
              <a:rPr lang="fr-FR" dirty="0"/>
              <a:t>Une organisation des contenus par niveau d’étude et unité d’enseignement </a:t>
            </a:r>
          </a:p>
          <a:p>
            <a:pPr lvl="1"/>
            <a:r>
              <a:rPr lang="fr-FR" dirty="0"/>
              <a:t>Des outils pédagogiques interactifs </a:t>
            </a:r>
          </a:p>
          <a:p>
            <a:pPr lvl="1"/>
            <a:r>
              <a:rPr lang="fr-FR" dirty="0"/>
              <a:t>Un système automatisé de suivi des performances </a:t>
            </a:r>
          </a:p>
          <a:p>
            <a:pPr lvl="1"/>
            <a:r>
              <a:rPr lang="fr-FR" dirty="0"/>
              <a:t>Une expérience utilisateur moderne inspirée des plateformes sociales et académiques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D123A3-ECC7-4553-B61C-97C101150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8896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0E3621-4301-46F4-A0C7-FA47B2415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Solution proposée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479824-79D4-4864-B384-9EDFA4DAB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Principes de conception </a:t>
            </a:r>
          </a:p>
          <a:p>
            <a:pPr lvl="1"/>
            <a:r>
              <a:rPr lang="fr-FR" dirty="0"/>
              <a:t>Simplicité d’utilisation </a:t>
            </a:r>
          </a:p>
          <a:p>
            <a:pPr lvl="1"/>
            <a:r>
              <a:rPr lang="fr-FR" dirty="0"/>
              <a:t>Navigation intuitive </a:t>
            </a:r>
          </a:p>
          <a:p>
            <a:pPr lvl="1"/>
            <a:r>
              <a:rPr lang="fr-FR" dirty="0"/>
              <a:t>Accessibilité rapide aux contenus </a:t>
            </a:r>
          </a:p>
          <a:p>
            <a:pPr lvl="1"/>
            <a:r>
              <a:rPr lang="fr-FR" dirty="0"/>
              <a:t>Automatisation des statistiques et du suivi pédagogique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A6730D-D27C-4E19-A33B-E3BDA7B93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80629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A2369-480A-4F5A-8CDF-15500EBC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6. Organisation des utilisateurs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452677-4300-4E6B-97C4-79C435AEE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Trois types d’utilisateur : étudiant, enseignant et administrateur</a:t>
            </a:r>
          </a:p>
          <a:p>
            <a:r>
              <a:rPr lang="fr-FR" dirty="0"/>
              <a:t>Étudiants </a:t>
            </a:r>
          </a:p>
          <a:p>
            <a:pPr lvl="1"/>
            <a:r>
              <a:rPr lang="fr-FR" dirty="0"/>
              <a:t>Accès aux contenus correspondant à leur niveau</a:t>
            </a:r>
          </a:p>
          <a:p>
            <a:pPr lvl="1"/>
            <a:r>
              <a:rPr lang="fr-FR" dirty="0"/>
              <a:t>Participation aux activités pédagogiques </a:t>
            </a:r>
          </a:p>
          <a:p>
            <a:pPr lvl="1"/>
            <a:r>
              <a:rPr lang="fr-FR" dirty="0"/>
              <a:t>Suivi de leur progression académique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CE75C3-7375-428F-BA8E-8823A2D1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8352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A2369-480A-4F5A-8CDF-15500EBC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6. Organisation des utilisateurs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452677-4300-4E6B-97C4-79C435AEE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Enseignants </a:t>
            </a:r>
          </a:p>
          <a:p>
            <a:pPr lvl="1"/>
            <a:r>
              <a:rPr lang="fr-FR" dirty="0"/>
              <a:t>Gestion des contenus pédagogiques </a:t>
            </a:r>
          </a:p>
          <a:p>
            <a:pPr lvl="1"/>
            <a:r>
              <a:rPr lang="fr-FR" dirty="0"/>
              <a:t>Suivi statistique des unités d’enseignement </a:t>
            </a:r>
          </a:p>
          <a:p>
            <a:pPr lvl="1"/>
            <a:r>
              <a:rPr lang="fr-FR" dirty="0"/>
              <a:t>Participation à l’évaluation des étudiants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24054D-69A1-4E44-82FD-E5E097C76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7961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A2369-480A-4F5A-8CDF-15500EBC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6. Organisation des utilisateurs (3)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452677-4300-4E6B-97C4-79C435AEE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Administrateurs </a:t>
            </a:r>
          </a:p>
          <a:p>
            <a:pPr lvl="1"/>
            <a:r>
              <a:rPr lang="fr-FR" dirty="0"/>
              <a:t>Gestion technique et organisationnelle de la plateforme </a:t>
            </a:r>
          </a:p>
          <a:p>
            <a:pPr lvl="1"/>
            <a:r>
              <a:rPr lang="fr-FR" dirty="0"/>
              <a:t>Maintenance et sécurité du système </a:t>
            </a:r>
          </a:p>
          <a:p>
            <a:pPr lvl="1"/>
            <a:r>
              <a:rPr lang="fr-FR" dirty="0"/>
              <a:t>Gestion des utilisateurs et des contenus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56BCE3-0372-47A6-A9E3-FCEB8AC7D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22026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635E28-6486-4D2F-898B-635EB77B9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7. Fonctionnalités principales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ABDCC-FE92-433D-BB9E-04CC81B83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Outils pédagogiques </a:t>
            </a:r>
          </a:p>
          <a:p>
            <a:pPr lvl="1"/>
            <a:r>
              <a:rPr lang="fr-FR" dirty="0"/>
              <a:t>Leçons et ressources pédagogiques </a:t>
            </a:r>
          </a:p>
          <a:p>
            <a:pPr lvl="1"/>
            <a:r>
              <a:rPr lang="fr-FR" dirty="0"/>
              <a:t>Quiz interactifs </a:t>
            </a:r>
          </a:p>
          <a:p>
            <a:pPr lvl="2"/>
            <a:r>
              <a:rPr lang="fr-FR" dirty="0"/>
              <a:t>QCM </a:t>
            </a:r>
          </a:p>
          <a:p>
            <a:pPr lvl="2"/>
            <a:r>
              <a:rPr lang="fr-FR" dirty="0"/>
              <a:t>Questions vrai/faux </a:t>
            </a:r>
          </a:p>
          <a:p>
            <a:pPr lvl="2"/>
            <a:r>
              <a:rPr lang="fr-FR" dirty="0"/>
              <a:t>Questions-réponses </a:t>
            </a:r>
          </a:p>
          <a:p>
            <a:pPr lvl="2"/>
            <a:r>
              <a:rPr lang="fr-FR" dirty="0"/>
              <a:t>Cas cliniques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D76A39-7BA1-4484-8012-16A9F4A1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2701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877DB-23BC-4630-A93E-BB488007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7. Fonctionnalités principales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A5D8AE-B6DD-4EC8-B401-1C3C7032B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Outils étudiants </a:t>
            </a:r>
          </a:p>
          <a:p>
            <a:pPr lvl="1"/>
            <a:r>
              <a:rPr lang="fr-FR" dirty="0"/>
              <a:t>Planification personnelle des révisions </a:t>
            </a:r>
          </a:p>
          <a:p>
            <a:pPr lvl="1"/>
            <a:r>
              <a:rPr lang="fr-FR" dirty="0"/>
              <a:t>Ajout de notes personnelles (flashcard, note en stage, explication en salle de classe)</a:t>
            </a:r>
          </a:p>
          <a:p>
            <a:pPr lvl="1"/>
            <a:r>
              <a:rPr lang="fr-FR" dirty="0"/>
              <a:t>Consultation des résultats </a:t>
            </a:r>
          </a:p>
          <a:p>
            <a:pPr lvl="1"/>
            <a:r>
              <a:rPr lang="fr-FR" dirty="0"/>
              <a:t>Visualisation des statistiques d’apprentissage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CB63BD-211E-47EB-AEEC-EC628D0A2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6800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877DB-23BC-4630-A93E-BB488007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7. Fonctionnalités principales (3)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A5D8AE-B6DD-4EC8-B401-1C3C7032B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Outils enseignants </a:t>
            </a:r>
          </a:p>
          <a:p>
            <a:pPr lvl="1"/>
            <a:r>
              <a:rPr lang="fr-FR" dirty="0"/>
              <a:t>Création et gestion des contenus </a:t>
            </a:r>
          </a:p>
          <a:p>
            <a:pPr lvl="1"/>
            <a:r>
              <a:rPr lang="fr-FR" dirty="0"/>
              <a:t>Analyse des statistiques pédagogiques </a:t>
            </a:r>
          </a:p>
          <a:p>
            <a:pPr lvl="1"/>
            <a:r>
              <a:rPr lang="fr-FR" dirty="0"/>
              <a:t>Suivi des performances étudiantes 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72CBE9-AA32-4E58-8915-84D2F97D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5282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877DB-23BC-4630-A93E-BB488007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7. Fonctionnalités principales (4)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A5D8AE-B6DD-4EC8-B401-1C3C7032B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Outils administratifs </a:t>
            </a:r>
          </a:p>
          <a:p>
            <a:pPr lvl="1"/>
            <a:r>
              <a:rPr lang="fr-FR" dirty="0"/>
              <a:t>Gestion globale de la plateforme </a:t>
            </a:r>
          </a:p>
          <a:p>
            <a:pPr lvl="1"/>
            <a:r>
              <a:rPr lang="fr-FR" dirty="0"/>
              <a:t>Maintenance et mises à jour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D7F985-2ABE-4E99-A6EA-F4A37D85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7296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E8DF1-B0EF-484C-8AED-55F48342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8. Impact pédagogique attendu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2F13AC-5C1E-4797-8CA0-15EED0816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Pour les étudiants </a:t>
            </a:r>
          </a:p>
          <a:p>
            <a:pPr lvl="1"/>
            <a:r>
              <a:rPr lang="fr-FR" dirty="0"/>
              <a:t>Apprentissage plus actif et interactif </a:t>
            </a:r>
          </a:p>
          <a:p>
            <a:pPr lvl="1"/>
            <a:r>
              <a:rPr lang="fr-FR" dirty="0"/>
              <a:t>Meilleure organisation des révisions </a:t>
            </a:r>
          </a:p>
          <a:p>
            <a:pPr lvl="1"/>
            <a:r>
              <a:rPr lang="fr-FR" dirty="0"/>
              <a:t>Renforcement de l’autonomie </a:t>
            </a:r>
          </a:p>
          <a:p>
            <a:pPr lvl="1"/>
            <a:r>
              <a:rPr lang="fr-FR" dirty="0"/>
              <a:t>Identification plus rapide des difficultés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768607-748C-4EF5-8E04-C805F504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3648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E8DF1-B0EF-484C-8AED-55F48342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8. Impact pédagogique attendu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2F13AC-5C1E-4797-8CA0-15EED0816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Pour les enseignants </a:t>
            </a:r>
          </a:p>
          <a:p>
            <a:pPr lvl="1"/>
            <a:r>
              <a:rPr lang="fr-FR" dirty="0"/>
              <a:t>Meilleur suivi pédagogique </a:t>
            </a:r>
          </a:p>
          <a:p>
            <a:pPr lvl="1"/>
            <a:r>
              <a:rPr lang="fr-FR" dirty="0"/>
              <a:t>Accès aux statistiques académiques </a:t>
            </a:r>
          </a:p>
          <a:p>
            <a:pPr lvl="1"/>
            <a:r>
              <a:rPr lang="fr-FR" dirty="0"/>
              <a:t>Optimisation des méthodes d’enseignement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B29E28-9EF3-4BA9-80A7-6740459A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2592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E8DF1-B0EF-484C-8AED-55F48342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8. Impact pédagogique attendu (3)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2F13AC-5C1E-4797-8CA0-15EED0816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Pour la faculté </a:t>
            </a:r>
          </a:p>
          <a:p>
            <a:pPr lvl="1"/>
            <a:r>
              <a:rPr lang="fr-FR" dirty="0"/>
              <a:t>Modernisation de l’environnement numérique </a:t>
            </a:r>
          </a:p>
          <a:p>
            <a:pPr lvl="1"/>
            <a:r>
              <a:rPr lang="fr-FR" dirty="0"/>
              <a:t>Valorisation de l’innovation pédagogique </a:t>
            </a:r>
          </a:p>
          <a:p>
            <a:pPr lvl="1"/>
            <a:r>
              <a:rPr lang="fr-FR" dirty="0"/>
              <a:t>Amélioration potentielle des performances académiques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BB7508-1CD1-42BF-8838-3483E549E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319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620B4E-5428-4F2C-9442-E70B29713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9. Perspectives d’évolution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BAAA90-385C-4830-87B6-810EAAB67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Intégration de l’intelligence artificielle </a:t>
            </a:r>
          </a:p>
          <a:p>
            <a:pPr lvl="1"/>
            <a:r>
              <a:rPr lang="fr-FR" dirty="0"/>
              <a:t>Système d’autocorrection des questions ouvertes </a:t>
            </a:r>
          </a:p>
          <a:p>
            <a:pPr lvl="1"/>
            <a:r>
              <a:rPr lang="fr-FR" dirty="0"/>
              <a:t>Génération intelligente d’exercices </a:t>
            </a:r>
          </a:p>
          <a:p>
            <a:pPr lvl="1"/>
            <a:r>
              <a:rPr lang="fr-FR" dirty="0"/>
              <a:t>Assistance pédagogique automatisée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EA3620-848D-4F76-BE97-8C44FF03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580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620B4E-5428-4F2C-9442-E70B29713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9. Perspectives d’évolution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BAAA90-385C-4830-87B6-810EAAB67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Extensions futures </a:t>
            </a:r>
          </a:p>
          <a:p>
            <a:pPr lvl="1"/>
            <a:r>
              <a:rPr lang="fr-FR" dirty="0"/>
              <a:t>Guides pratiques d’actes médicaux conforme aux ressources existants dans notre pays</a:t>
            </a:r>
          </a:p>
          <a:p>
            <a:pPr lvl="1"/>
            <a:r>
              <a:rPr lang="fr-FR" dirty="0"/>
              <a:t>Analyse avancée des performances </a:t>
            </a:r>
          </a:p>
          <a:p>
            <a:pPr lvl="1"/>
            <a:r>
              <a:rPr lang="fr-FR" dirty="0"/>
              <a:t>Compatibilité mobile avancée 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10CCB4-63B2-44DD-ACA9-C8FD6AD5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63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6E69-02FA-4584-9325-9CFAF3BA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10. Illustrations (1)</a:t>
            </a:r>
            <a:endParaRPr lang="LID4096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4E0DB73E-F695-49B0-B6DE-E29F5CBD5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923495"/>
            <a:ext cx="7886700" cy="420005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E169C9-911B-439C-9084-712421504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36655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6E69-02FA-4584-9325-9CFAF3BA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10. Illustrations (2)</a:t>
            </a:r>
            <a:endParaRPr lang="LID4096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0D343E9-6B1A-4CAF-8661-C9346175E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43603"/>
            <a:ext cx="7886700" cy="3915382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958FCD-5D67-4EEA-B4CB-A4DCB2F5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8579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6E69-02FA-4584-9325-9CFAF3BA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10. Illustrations (3)</a:t>
            </a:r>
            <a:endParaRPr lang="LID4096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2EC0B40A-C91C-497B-B5F1-E9FA2CB45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20" y="1825625"/>
            <a:ext cx="7814760" cy="4351338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DC52C1-B808-4A58-AC91-8896F8E3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8913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6E69-02FA-4584-9325-9CFAF3BA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10. Illustrations (4) </a:t>
            </a:r>
            <a:endParaRPr lang="LID4096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7F0D9D64-544D-46EB-9E4A-1B80BB7349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075" y="1893094"/>
            <a:ext cx="4387850" cy="421640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C608A9-6770-42F9-B596-36858CF4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207870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6E69-02FA-4584-9325-9CFAF3BA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10. Illustrations (5) </a:t>
            </a:r>
            <a:endParaRPr lang="LID4096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47F5548D-EEFC-4B31-9FED-B121672CD4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976927"/>
            <a:ext cx="7886700" cy="4048734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308989-1AFB-4286-AEE0-44F3DF58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0834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6E69-02FA-4584-9325-9CFAF3BA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10. Illustrations (6)</a:t>
            </a:r>
            <a:endParaRPr lang="LID4096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07C82956-95A5-4738-B9EC-AC600F472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570569"/>
            <a:ext cx="7886700" cy="2861449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677D99-08CC-4143-8D64-808CDD9D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3125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6E69-02FA-4584-9325-9CFAF3BA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11. Conclusion  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5EDA45-CAF8-463A-A731-B2B0D0638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Une plateforme pensée pour les besoins réels des étudiants en médecine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Une approche combinant pédagogie et technologie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Un projet pouvant contribuer à la modernisation de l’enseignement médical </a:t>
            </a:r>
          </a:p>
          <a:p>
            <a:r>
              <a:rPr lang="fr-FR" b="1" dirty="0"/>
              <a:t>Demande :</a:t>
            </a:r>
          </a:p>
          <a:p>
            <a:pPr lvl="1"/>
            <a:r>
              <a:rPr lang="fr-FR" dirty="0"/>
              <a:t>Accompagnement pédagogique </a:t>
            </a:r>
          </a:p>
          <a:p>
            <a:pPr lvl="1"/>
            <a:r>
              <a:rPr lang="fr-FR" dirty="0"/>
              <a:t>Collaboration institutionnelle </a:t>
            </a:r>
          </a:p>
          <a:p>
            <a:pPr lvl="1"/>
            <a:r>
              <a:rPr lang="fr-FR" dirty="0"/>
              <a:t>Soutien pour son implémentation au sein de la faculté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46EDE0-3CF6-40AA-9161-399C36A0C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7232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52D5BF-FC4A-4D64-827D-3CC267217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70027"/>
            <a:ext cx="7886700" cy="2852737"/>
          </a:xfrm>
        </p:spPr>
        <p:txBody>
          <a:bodyPr>
            <a:noAutofit/>
          </a:bodyPr>
          <a:lstStyle/>
          <a:p>
            <a:r>
              <a:rPr lang="fr-FR" sz="3200" dirty="0"/>
              <a:t>« Investir dans les outils pédagogiques numériques, c’est investir dans la qualité de la formation médicale de demain. »</a:t>
            </a:r>
            <a:endParaRPr lang="LID4096" sz="32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B73262-6FDF-4637-9D1F-E236EF13E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32479E-FD17-4129-8A18-ABB231EF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7693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97FD37-C828-4D20-BED9-6BD33957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42805"/>
            <a:ext cx="7886700" cy="2852737"/>
          </a:xfrm>
        </p:spPr>
        <p:txBody>
          <a:bodyPr>
            <a:normAutofit/>
          </a:bodyPr>
          <a:lstStyle/>
          <a:p>
            <a:r>
              <a:rPr lang="fr-FR" sz="3200" dirty="0"/>
              <a:t>Merci pour votre temps et de votre aimable attention !!!</a:t>
            </a:r>
            <a:endParaRPr lang="LID4096" sz="32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D99C91-09A3-4760-A71F-B953DE1B9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1FE3E5-6E8D-4C87-A9CC-47B87D3C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75750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C7699A-A810-4553-A9A1-395A1F6D86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3200" dirty="0"/>
              <a:t>Projet d’amélioration de l’espace numérique de travail (ENT) au sein de la Faculté de Médecine d’Antananarivo</a:t>
            </a:r>
            <a:endParaRPr lang="LID4096" sz="32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17C33A8-9613-4FE2-9E09-2FCCD9BE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2133599"/>
          </a:xfrm>
        </p:spPr>
        <p:txBody>
          <a:bodyPr>
            <a:normAutofit fontScale="85000" lnSpcReduction="10000"/>
          </a:bodyPr>
          <a:lstStyle/>
          <a:p>
            <a:r>
              <a:rPr lang="fr-FR" dirty="0"/>
              <a:t>Réalisé et présenté par ZICO </a:t>
            </a:r>
          </a:p>
          <a:p>
            <a:r>
              <a:rPr lang="fr-FR" dirty="0"/>
              <a:t>Étudiant 5</a:t>
            </a:r>
            <a:r>
              <a:rPr lang="fr-FR" baseline="30000" dirty="0"/>
              <a:t>ème</a:t>
            </a:r>
            <a:r>
              <a:rPr lang="fr-FR" dirty="0"/>
              <a:t> année Médecine Humaine</a:t>
            </a:r>
          </a:p>
          <a:p>
            <a:r>
              <a:rPr lang="fr-FR" dirty="0"/>
              <a:t>Pr SAMISON Luc Hervé et son équipe</a:t>
            </a:r>
          </a:p>
          <a:p>
            <a:r>
              <a:rPr lang="fr-FR" dirty="0"/>
              <a:t>21/05/2026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19019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</TotalTime>
  <Words>930</Words>
  <Application>Microsoft Office PowerPoint</Application>
  <PresentationFormat>Affichage à l'écran (4:3)</PresentationFormat>
  <Paragraphs>197</Paragraphs>
  <Slides>33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Courier New</vt:lpstr>
      <vt:lpstr>Wingdings</vt:lpstr>
      <vt:lpstr>Thème Office</vt:lpstr>
      <vt:lpstr>Projet d’amélioration de l’espace numérique de travail (ENT) au sein de la Faculté de Médecine d’Antananarivo</vt:lpstr>
      <vt:lpstr>Plan</vt:lpstr>
      <vt:lpstr>1. Contexte général</vt:lpstr>
      <vt:lpstr>2. Constats et problématiques (1)</vt:lpstr>
      <vt:lpstr>2. Constats et problématiques (2)</vt:lpstr>
      <vt:lpstr>3. Conséquences pédagogiques (1)</vt:lpstr>
      <vt:lpstr>3. Conséquences pédagogiques (2)</vt:lpstr>
      <vt:lpstr>4. Vision et objectifs du projet (1)</vt:lpstr>
      <vt:lpstr>4. Vision et objectifs du projet (2)</vt:lpstr>
      <vt:lpstr>5. Solution proposée (1)</vt:lpstr>
      <vt:lpstr>5. Solution proposée (2)</vt:lpstr>
      <vt:lpstr>6. Organisation des utilisateurs (1)</vt:lpstr>
      <vt:lpstr>6. Organisation des utilisateurs (2)</vt:lpstr>
      <vt:lpstr>6. Organisation des utilisateurs (3)</vt:lpstr>
      <vt:lpstr>7. Fonctionnalités principales (1)</vt:lpstr>
      <vt:lpstr>7. Fonctionnalités principales (2)</vt:lpstr>
      <vt:lpstr>7. Fonctionnalités principales (3)</vt:lpstr>
      <vt:lpstr>7. Fonctionnalités principales (4)</vt:lpstr>
      <vt:lpstr>8. Impact pédagogique attendu (1)</vt:lpstr>
      <vt:lpstr>8. Impact pédagogique attendu (2)</vt:lpstr>
      <vt:lpstr>8. Impact pédagogique attendu (3)</vt:lpstr>
      <vt:lpstr>9. Perspectives d’évolution (1)</vt:lpstr>
      <vt:lpstr>9. Perspectives d’évolution (2)</vt:lpstr>
      <vt:lpstr>10. Illustrations (1)</vt:lpstr>
      <vt:lpstr>10. Illustrations (2)</vt:lpstr>
      <vt:lpstr>10. Illustrations (3)</vt:lpstr>
      <vt:lpstr>10. Illustrations (4) </vt:lpstr>
      <vt:lpstr>10. Illustrations (5) </vt:lpstr>
      <vt:lpstr>10. Illustrations (6)</vt:lpstr>
      <vt:lpstr>11. Conclusion  </vt:lpstr>
      <vt:lpstr>« Investir dans les outils pédagogiques numériques, c’est investir dans la qualité de la formation médicale de demain. »</vt:lpstr>
      <vt:lpstr>Merci pour votre temps et de votre aimable attention !!!</vt:lpstr>
      <vt:lpstr>Projet d’amélioration de l’espace numérique de travail (ENT) au sein de la Faculté de Médecine d’Antananarivo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ZICO</dc:creator>
  <cp:lastModifiedBy>ZICO</cp:lastModifiedBy>
  <cp:revision>25</cp:revision>
  <dcterms:created xsi:type="dcterms:W3CDTF">2026-05-20T13:40:20Z</dcterms:created>
  <dcterms:modified xsi:type="dcterms:W3CDTF">2026-05-21T07:20:00Z</dcterms:modified>
</cp:coreProperties>
</file>